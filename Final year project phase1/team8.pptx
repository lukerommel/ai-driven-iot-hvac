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media/image8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72" r:id="rId3"/>
  </p:sldMasterIdLst>
  <p:notesMasterIdLst>
    <p:notesMasterId r:id="rId26"/>
  </p:notesMasterIdLst>
  <p:sldIdLst>
    <p:sldId id="256" r:id="rId4"/>
    <p:sldId id="257" r:id="rId5"/>
    <p:sldId id="258" r:id="rId6"/>
    <p:sldId id="259" r:id="rId7"/>
    <p:sldId id="270" r:id="rId8"/>
    <p:sldId id="271" r:id="rId9"/>
    <p:sldId id="280" r:id="rId10"/>
    <p:sldId id="281" r:id="rId11"/>
    <p:sldId id="272" r:id="rId12"/>
    <p:sldId id="273" r:id="rId13"/>
    <p:sldId id="274" r:id="rId14"/>
    <p:sldId id="275" r:id="rId15"/>
    <p:sldId id="26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8" r:id="rId24"/>
    <p:sldId id="267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3842" autoAdjust="0"/>
  </p:normalViewPr>
  <p:slideViewPr>
    <p:cSldViewPr>
      <p:cViewPr varScale="1">
        <p:scale>
          <a:sx n="90" d="100"/>
          <a:sy n="90" d="100"/>
        </p:scale>
        <p:origin x="370" y="6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EBC83C-8FB6-4736-99D0-C0D0DAAA77D3}" type="datetimeFigureOut">
              <a:rPr lang="en-US" smtClean="0"/>
              <a:t>23-Oct-25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05E0C-74AA-4619-BF25-FBEF69C6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626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Department</a:t>
            </a:r>
            <a:r>
              <a:rPr spc="-2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40" dirty="0"/>
              <a:t> </a:t>
            </a:r>
            <a:r>
              <a:rPr dirty="0"/>
              <a:t>Science</a:t>
            </a:r>
            <a:r>
              <a:rPr spc="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Engineering,</a:t>
            </a:r>
            <a:r>
              <a:rPr spc="-25" dirty="0"/>
              <a:t> </a:t>
            </a:r>
            <a:r>
              <a:rPr spc="-20" dirty="0"/>
              <a:t>SSET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10"/>
              <a:t>05-10-2025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Department</a:t>
            </a:r>
            <a:r>
              <a:rPr spc="-2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40" dirty="0"/>
              <a:t> </a:t>
            </a:r>
            <a:r>
              <a:rPr dirty="0"/>
              <a:t>Science</a:t>
            </a:r>
            <a:r>
              <a:rPr spc="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Engineering,</a:t>
            </a:r>
            <a:r>
              <a:rPr spc="-25" dirty="0"/>
              <a:t> </a:t>
            </a:r>
            <a:r>
              <a:rPr spc="-20" dirty="0"/>
              <a:t>SSET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10"/>
              <a:t>05-10-2025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Department</a:t>
            </a:r>
            <a:r>
              <a:rPr spc="-2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40" dirty="0"/>
              <a:t> </a:t>
            </a:r>
            <a:r>
              <a:rPr dirty="0"/>
              <a:t>Science</a:t>
            </a:r>
            <a:r>
              <a:rPr spc="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Engineering,</a:t>
            </a:r>
            <a:r>
              <a:rPr spc="-25" dirty="0"/>
              <a:t> </a:t>
            </a:r>
            <a:r>
              <a:rPr spc="-20" dirty="0"/>
              <a:t>SSET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10"/>
              <a:t>05-10-2025</a:t>
            </a:r>
            <a:endParaRPr spc="-2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Department</a:t>
            </a:r>
            <a:r>
              <a:rPr spc="-2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40" dirty="0"/>
              <a:t> </a:t>
            </a:r>
            <a:r>
              <a:rPr dirty="0"/>
              <a:t>Science</a:t>
            </a:r>
            <a:r>
              <a:rPr spc="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Engineering,</a:t>
            </a:r>
            <a:r>
              <a:rPr spc="-25" dirty="0"/>
              <a:t> </a:t>
            </a:r>
            <a:r>
              <a:rPr spc="-20" dirty="0"/>
              <a:t>SSET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10"/>
              <a:t>05-10-2025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Department</a:t>
            </a:r>
            <a:r>
              <a:rPr spc="-2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40" dirty="0"/>
              <a:t> </a:t>
            </a:r>
            <a:r>
              <a:rPr dirty="0"/>
              <a:t>Science</a:t>
            </a:r>
            <a:r>
              <a:rPr spc="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Engineering,</a:t>
            </a:r>
            <a:r>
              <a:rPr spc="-25" dirty="0"/>
              <a:t> </a:t>
            </a:r>
            <a:r>
              <a:rPr spc="-20" dirty="0"/>
              <a:t>SSET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10"/>
              <a:t>05-10-2025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8467">
              <a:lnSpc>
                <a:spcPts val="1167"/>
              </a:lnSpc>
            </a:pPr>
            <a:r>
              <a:rPr lang="en-US"/>
              <a:t>Department</a:t>
            </a:r>
            <a:r>
              <a:rPr lang="en-US" spc="87"/>
              <a:t> </a:t>
            </a:r>
            <a:r>
              <a:rPr lang="en-US"/>
              <a:t>of</a:t>
            </a:r>
            <a:r>
              <a:rPr lang="en-US" spc="90"/>
              <a:t> </a:t>
            </a:r>
            <a:r>
              <a:rPr lang="en-US"/>
              <a:t>Computer</a:t>
            </a:r>
            <a:r>
              <a:rPr lang="en-US" spc="90"/>
              <a:t> </a:t>
            </a:r>
            <a:r>
              <a:rPr lang="en-US"/>
              <a:t>Science</a:t>
            </a:r>
            <a:r>
              <a:rPr lang="en-US" spc="90"/>
              <a:t> </a:t>
            </a:r>
            <a:r>
              <a:rPr lang="en-US"/>
              <a:t>and</a:t>
            </a:r>
            <a:r>
              <a:rPr lang="en-US" spc="90"/>
              <a:t> </a:t>
            </a:r>
            <a:r>
              <a:rPr lang="en-US"/>
              <a:t>Engineering,</a:t>
            </a:r>
            <a:r>
              <a:rPr lang="en-US" spc="87"/>
              <a:t> </a:t>
            </a:r>
            <a:r>
              <a:rPr lang="en-US" spc="93"/>
              <a:t>SSET</a:t>
            </a:r>
            <a:endParaRPr lang="en-US" spc="93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8467">
              <a:lnSpc>
                <a:spcPts val="1167"/>
              </a:lnSpc>
            </a:pPr>
            <a:r>
              <a:rPr lang="en-US" spc="-17"/>
              <a:t>23-10-</a:t>
            </a:r>
            <a:r>
              <a:rPr lang="en-US" spc="-13"/>
              <a:t>2025</a:t>
            </a:r>
            <a:endParaRPr lang="en-US" spc="-13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25401">
              <a:lnSpc>
                <a:spcPts val="1167"/>
              </a:lnSpc>
            </a:pPr>
            <a:fld id="{81D60167-4931-47E6-BA6A-407CBD079E47}" type="slidenum">
              <a:rPr lang="en-US" spc="-33" smtClean="0"/>
              <a:pPr marL="25401">
                <a:lnSpc>
                  <a:spcPts val="1167"/>
                </a:lnSpc>
              </a:pPr>
              <a:t>‹#›</a:t>
            </a:fld>
            <a:endParaRPr lang="en-US" spc="-33" dirty="0"/>
          </a:p>
        </p:txBody>
      </p:sp>
    </p:spTree>
    <p:extLst>
      <p:ext uri="{BB962C8B-B14F-4D97-AF65-F5344CB8AC3E}">
        <p14:creationId xmlns:p14="http://schemas.microsoft.com/office/powerpoint/2010/main" val="3602188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44682" y="450850"/>
            <a:ext cx="1058502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12176" y="1250916"/>
            <a:ext cx="10194713" cy="246221"/>
          </a:xfrm>
        </p:spPr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8467">
              <a:lnSpc>
                <a:spcPts val="1167"/>
              </a:lnSpc>
            </a:pPr>
            <a:r>
              <a:rPr lang="en-US"/>
              <a:t>Department</a:t>
            </a:r>
            <a:r>
              <a:rPr lang="en-US" spc="87"/>
              <a:t> </a:t>
            </a:r>
            <a:r>
              <a:rPr lang="en-US"/>
              <a:t>of</a:t>
            </a:r>
            <a:r>
              <a:rPr lang="en-US" spc="90"/>
              <a:t> </a:t>
            </a:r>
            <a:r>
              <a:rPr lang="en-US"/>
              <a:t>Computer</a:t>
            </a:r>
            <a:r>
              <a:rPr lang="en-US" spc="90"/>
              <a:t> </a:t>
            </a:r>
            <a:r>
              <a:rPr lang="en-US"/>
              <a:t>Science</a:t>
            </a:r>
            <a:r>
              <a:rPr lang="en-US" spc="90"/>
              <a:t> </a:t>
            </a:r>
            <a:r>
              <a:rPr lang="en-US"/>
              <a:t>and</a:t>
            </a:r>
            <a:r>
              <a:rPr lang="en-US" spc="90"/>
              <a:t> </a:t>
            </a:r>
            <a:r>
              <a:rPr lang="en-US"/>
              <a:t>Engineering,</a:t>
            </a:r>
            <a:r>
              <a:rPr lang="en-US" spc="87"/>
              <a:t> </a:t>
            </a:r>
            <a:r>
              <a:rPr lang="en-US" spc="93"/>
              <a:t>SSET</a:t>
            </a:r>
            <a:endParaRPr lang="en-US" spc="93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8467">
              <a:lnSpc>
                <a:spcPts val="1167"/>
              </a:lnSpc>
            </a:pPr>
            <a:r>
              <a:rPr lang="en-US" spc="-17"/>
              <a:t>23-10-</a:t>
            </a:r>
            <a:r>
              <a:rPr lang="en-US" spc="-13"/>
              <a:t>2025</a:t>
            </a:r>
            <a:endParaRPr lang="en-US" spc="-13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25401">
              <a:lnSpc>
                <a:spcPts val="1167"/>
              </a:lnSpc>
            </a:pPr>
            <a:fld id="{81D60167-4931-47E6-BA6A-407CBD079E47}" type="slidenum">
              <a:rPr lang="en-US" spc="-33" smtClean="0"/>
              <a:pPr marL="25401">
                <a:lnSpc>
                  <a:spcPts val="1167"/>
                </a:lnSpc>
              </a:pPr>
              <a:t>‹#›</a:t>
            </a:fld>
            <a:endParaRPr lang="en-US" spc="-33" dirty="0"/>
          </a:p>
        </p:txBody>
      </p:sp>
    </p:spTree>
    <p:extLst>
      <p:ext uri="{BB962C8B-B14F-4D97-AF65-F5344CB8AC3E}">
        <p14:creationId xmlns:p14="http://schemas.microsoft.com/office/powerpoint/2010/main" val="2218058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44682" y="450850"/>
            <a:ext cx="1058502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8467">
              <a:lnSpc>
                <a:spcPts val="1167"/>
              </a:lnSpc>
            </a:pPr>
            <a:r>
              <a:rPr lang="en-US"/>
              <a:t>Department</a:t>
            </a:r>
            <a:r>
              <a:rPr lang="en-US" spc="87"/>
              <a:t> </a:t>
            </a:r>
            <a:r>
              <a:rPr lang="en-US"/>
              <a:t>of</a:t>
            </a:r>
            <a:r>
              <a:rPr lang="en-US" spc="90"/>
              <a:t> </a:t>
            </a:r>
            <a:r>
              <a:rPr lang="en-US"/>
              <a:t>Computer</a:t>
            </a:r>
            <a:r>
              <a:rPr lang="en-US" spc="90"/>
              <a:t> </a:t>
            </a:r>
            <a:r>
              <a:rPr lang="en-US"/>
              <a:t>Science</a:t>
            </a:r>
            <a:r>
              <a:rPr lang="en-US" spc="90"/>
              <a:t> </a:t>
            </a:r>
            <a:r>
              <a:rPr lang="en-US"/>
              <a:t>and</a:t>
            </a:r>
            <a:r>
              <a:rPr lang="en-US" spc="90"/>
              <a:t> </a:t>
            </a:r>
            <a:r>
              <a:rPr lang="en-US"/>
              <a:t>Engineering,</a:t>
            </a:r>
            <a:r>
              <a:rPr lang="en-US" spc="87"/>
              <a:t> </a:t>
            </a:r>
            <a:r>
              <a:rPr lang="en-US" spc="93"/>
              <a:t>SSET</a:t>
            </a:r>
            <a:endParaRPr lang="en-US" spc="93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8467">
              <a:lnSpc>
                <a:spcPts val="1167"/>
              </a:lnSpc>
            </a:pPr>
            <a:r>
              <a:rPr lang="en-US" spc="-17"/>
              <a:t>23-10-</a:t>
            </a:r>
            <a:r>
              <a:rPr lang="en-US" spc="-13"/>
              <a:t>2025</a:t>
            </a:r>
            <a:endParaRPr lang="en-US" spc="-13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25401">
              <a:lnSpc>
                <a:spcPts val="1167"/>
              </a:lnSpc>
            </a:pPr>
            <a:fld id="{81D60167-4931-47E6-BA6A-407CBD079E47}" type="slidenum">
              <a:rPr lang="en-US" spc="-33" smtClean="0"/>
              <a:pPr marL="25401">
                <a:lnSpc>
                  <a:spcPts val="1167"/>
                </a:lnSpc>
              </a:pPr>
              <a:t>‹#›</a:t>
            </a:fld>
            <a:endParaRPr lang="en-US" spc="-33" dirty="0"/>
          </a:p>
        </p:txBody>
      </p:sp>
    </p:spTree>
    <p:extLst>
      <p:ext uri="{BB962C8B-B14F-4D97-AF65-F5344CB8AC3E}">
        <p14:creationId xmlns:p14="http://schemas.microsoft.com/office/powerpoint/2010/main" val="932263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44682" y="450850"/>
            <a:ext cx="1058502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8467">
              <a:lnSpc>
                <a:spcPts val="1167"/>
              </a:lnSpc>
            </a:pPr>
            <a:r>
              <a:rPr lang="en-US"/>
              <a:t>Department</a:t>
            </a:r>
            <a:r>
              <a:rPr lang="en-US" spc="87"/>
              <a:t> </a:t>
            </a:r>
            <a:r>
              <a:rPr lang="en-US"/>
              <a:t>of</a:t>
            </a:r>
            <a:r>
              <a:rPr lang="en-US" spc="90"/>
              <a:t> </a:t>
            </a:r>
            <a:r>
              <a:rPr lang="en-US"/>
              <a:t>Computer</a:t>
            </a:r>
            <a:r>
              <a:rPr lang="en-US" spc="90"/>
              <a:t> </a:t>
            </a:r>
            <a:r>
              <a:rPr lang="en-US"/>
              <a:t>Science</a:t>
            </a:r>
            <a:r>
              <a:rPr lang="en-US" spc="90"/>
              <a:t> </a:t>
            </a:r>
            <a:r>
              <a:rPr lang="en-US"/>
              <a:t>and</a:t>
            </a:r>
            <a:r>
              <a:rPr lang="en-US" spc="90"/>
              <a:t> </a:t>
            </a:r>
            <a:r>
              <a:rPr lang="en-US"/>
              <a:t>Engineering,</a:t>
            </a:r>
            <a:r>
              <a:rPr lang="en-US" spc="87"/>
              <a:t> </a:t>
            </a:r>
            <a:r>
              <a:rPr lang="en-US" spc="93"/>
              <a:t>SSET</a:t>
            </a:r>
            <a:endParaRPr lang="en-US" spc="93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8467">
              <a:lnSpc>
                <a:spcPts val="1167"/>
              </a:lnSpc>
            </a:pPr>
            <a:r>
              <a:rPr lang="en-US" spc="-17"/>
              <a:t>23-10-</a:t>
            </a:r>
            <a:r>
              <a:rPr lang="en-US" spc="-13"/>
              <a:t>2025</a:t>
            </a:r>
            <a:endParaRPr lang="en-US" spc="-13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25401">
              <a:lnSpc>
                <a:spcPts val="1167"/>
              </a:lnSpc>
            </a:pPr>
            <a:fld id="{81D60167-4931-47E6-BA6A-407CBD079E47}" type="slidenum">
              <a:rPr lang="en-US" spc="-33" smtClean="0"/>
              <a:pPr marL="25401">
                <a:lnSpc>
                  <a:spcPts val="1167"/>
                </a:lnSpc>
              </a:pPr>
              <a:t>‹#›</a:t>
            </a:fld>
            <a:endParaRPr lang="en-US" spc="-33" dirty="0"/>
          </a:p>
        </p:txBody>
      </p:sp>
    </p:spTree>
    <p:extLst>
      <p:ext uri="{BB962C8B-B14F-4D97-AF65-F5344CB8AC3E}">
        <p14:creationId xmlns:p14="http://schemas.microsoft.com/office/powerpoint/2010/main" val="3803598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8467">
              <a:lnSpc>
                <a:spcPts val="1167"/>
              </a:lnSpc>
            </a:pPr>
            <a:r>
              <a:rPr lang="en-US"/>
              <a:t>Department</a:t>
            </a:r>
            <a:r>
              <a:rPr lang="en-US" spc="87"/>
              <a:t> </a:t>
            </a:r>
            <a:r>
              <a:rPr lang="en-US"/>
              <a:t>of</a:t>
            </a:r>
            <a:r>
              <a:rPr lang="en-US" spc="90"/>
              <a:t> </a:t>
            </a:r>
            <a:r>
              <a:rPr lang="en-US"/>
              <a:t>Computer</a:t>
            </a:r>
            <a:r>
              <a:rPr lang="en-US" spc="90"/>
              <a:t> </a:t>
            </a:r>
            <a:r>
              <a:rPr lang="en-US"/>
              <a:t>Science</a:t>
            </a:r>
            <a:r>
              <a:rPr lang="en-US" spc="90"/>
              <a:t> </a:t>
            </a:r>
            <a:r>
              <a:rPr lang="en-US"/>
              <a:t>and</a:t>
            </a:r>
            <a:r>
              <a:rPr lang="en-US" spc="90"/>
              <a:t> </a:t>
            </a:r>
            <a:r>
              <a:rPr lang="en-US"/>
              <a:t>Engineering,</a:t>
            </a:r>
            <a:r>
              <a:rPr lang="en-US" spc="87"/>
              <a:t> </a:t>
            </a:r>
            <a:r>
              <a:rPr lang="en-US" spc="93"/>
              <a:t>SSET</a:t>
            </a:r>
            <a:endParaRPr lang="en-US" spc="93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8467">
              <a:lnSpc>
                <a:spcPts val="1167"/>
              </a:lnSpc>
            </a:pPr>
            <a:r>
              <a:rPr lang="en-US" spc="-17"/>
              <a:t>23-10-</a:t>
            </a:r>
            <a:r>
              <a:rPr lang="en-US" spc="-13"/>
              <a:t>2025</a:t>
            </a:r>
            <a:endParaRPr lang="en-US" spc="-13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25401">
              <a:lnSpc>
                <a:spcPts val="1167"/>
              </a:lnSpc>
            </a:pPr>
            <a:fld id="{81D60167-4931-47E6-BA6A-407CBD079E47}" type="slidenum">
              <a:rPr lang="en-US" spc="-33" smtClean="0"/>
              <a:pPr marL="25401">
                <a:lnSpc>
                  <a:spcPts val="1167"/>
                </a:lnSpc>
              </a:pPr>
              <a:t>‹#›</a:t>
            </a:fld>
            <a:endParaRPr lang="en-US" spc="-33" dirty="0"/>
          </a:p>
        </p:txBody>
      </p:sp>
    </p:spTree>
    <p:extLst>
      <p:ext uri="{BB962C8B-B14F-4D97-AF65-F5344CB8AC3E}">
        <p14:creationId xmlns:p14="http://schemas.microsoft.com/office/powerpoint/2010/main" val="1459525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7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94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68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97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98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7758">
              <a:lnSpc>
                <a:spcPts val="1665"/>
              </a:lnSpc>
            </a:pPr>
            <a:r>
              <a:rPr lang="en-US"/>
              <a:t>Department</a:t>
            </a:r>
            <a:r>
              <a:rPr lang="en-US" spc="-7"/>
              <a:t> </a:t>
            </a:r>
            <a:r>
              <a:rPr lang="en-US"/>
              <a:t>of</a:t>
            </a:r>
            <a:r>
              <a:rPr lang="en-US" spc="-67"/>
              <a:t> </a:t>
            </a:r>
            <a:r>
              <a:rPr lang="en-US" spc="-13"/>
              <a:t>Computer</a:t>
            </a:r>
            <a:r>
              <a:rPr lang="en-US" spc="33"/>
              <a:t> </a:t>
            </a:r>
            <a:r>
              <a:rPr lang="en-US"/>
              <a:t>Science</a:t>
            </a:r>
            <a:r>
              <a:rPr lang="en-US" spc="-13"/>
              <a:t> Engineering,SSET</a:t>
            </a:r>
            <a:endParaRPr lang="en-US" spc="-13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99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6913">
              <a:spcBef>
                <a:spcPts val="13"/>
              </a:spcBef>
            </a:pPr>
            <a:r>
              <a:rPr lang="en-US" spc="-13"/>
              <a:t>7/15/2025</a:t>
            </a:r>
            <a:endParaRPr lang="en-US" spc="-13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32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143757">
              <a:spcBef>
                <a:spcPts val="926"/>
              </a:spcBef>
            </a:pPr>
            <a:fld id="{81D60167-4931-47E6-BA6A-407CBD079E47}" type="slidenum">
              <a:rPr lang="en-US" spc="-67" smtClean="0"/>
              <a:pPr marL="143757">
                <a:spcBef>
                  <a:spcPts val="926"/>
                </a:spcBef>
              </a:pPr>
              <a:t>‹#›</a:t>
            </a:fld>
            <a:endParaRPr lang="en-US" spc="-67" dirty="0"/>
          </a:p>
        </p:txBody>
      </p:sp>
    </p:spTree>
    <p:extLst>
      <p:ext uri="{BB962C8B-B14F-4D97-AF65-F5344CB8AC3E}">
        <p14:creationId xmlns:p14="http://schemas.microsoft.com/office/powerpoint/2010/main" val="8570360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9873" y="663408"/>
            <a:ext cx="4776047" cy="737766"/>
          </a:xfrm>
        </p:spPr>
        <p:txBody>
          <a:bodyPr lIns="0" tIns="0" rIns="0" bIns="0"/>
          <a:lstStyle>
            <a:lvl1pPr>
              <a:defRPr sz="4794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8995" y="1715532"/>
            <a:ext cx="11494008" cy="368884"/>
          </a:xfrm>
        </p:spPr>
        <p:txBody>
          <a:bodyPr lIns="0" tIns="0" rIns="0" bIns="0"/>
          <a:lstStyle>
            <a:lvl1pPr>
              <a:defRPr sz="2397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98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7758">
              <a:lnSpc>
                <a:spcPts val="1665"/>
              </a:lnSpc>
            </a:pPr>
            <a:r>
              <a:rPr lang="en-US"/>
              <a:t>Department</a:t>
            </a:r>
            <a:r>
              <a:rPr lang="en-US" spc="-7"/>
              <a:t> </a:t>
            </a:r>
            <a:r>
              <a:rPr lang="en-US"/>
              <a:t>of</a:t>
            </a:r>
            <a:r>
              <a:rPr lang="en-US" spc="-67"/>
              <a:t> </a:t>
            </a:r>
            <a:r>
              <a:rPr lang="en-US" spc="-13"/>
              <a:t>Computer</a:t>
            </a:r>
            <a:r>
              <a:rPr lang="en-US" spc="33"/>
              <a:t> </a:t>
            </a:r>
            <a:r>
              <a:rPr lang="en-US"/>
              <a:t>Science</a:t>
            </a:r>
            <a:r>
              <a:rPr lang="en-US" spc="-13"/>
              <a:t> Engineering,SSET</a:t>
            </a:r>
            <a:endParaRPr lang="en-US" spc="-13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99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6913">
              <a:spcBef>
                <a:spcPts val="13"/>
              </a:spcBef>
            </a:pPr>
            <a:r>
              <a:rPr lang="en-US" spc="-13"/>
              <a:t>7/15/2025</a:t>
            </a:r>
            <a:endParaRPr lang="en-US" spc="-13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32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143757">
              <a:spcBef>
                <a:spcPts val="926"/>
              </a:spcBef>
            </a:pPr>
            <a:fld id="{81D60167-4931-47E6-BA6A-407CBD079E47}" type="slidenum">
              <a:rPr lang="en-US" spc="-67" smtClean="0"/>
              <a:pPr marL="143757">
                <a:spcBef>
                  <a:spcPts val="926"/>
                </a:spcBef>
              </a:pPr>
              <a:t>‹#›</a:t>
            </a:fld>
            <a:endParaRPr lang="en-US" spc="-67" dirty="0"/>
          </a:p>
        </p:txBody>
      </p:sp>
    </p:spTree>
    <p:extLst>
      <p:ext uri="{BB962C8B-B14F-4D97-AF65-F5344CB8AC3E}">
        <p14:creationId xmlns:p14="http://schemas.microsoft.com/office/powerpoint/2010/main" val="3015683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9873" y="663408"/>
            <a:ext cx="4776047" cy="737766"/>
          </a:xfrm>
        </p:spPr>
        <p:txBody>
          <a:bodyPr lIns="0" tIns="0" rIns="0" bIns="0"/>
          <a:lstStyle>
            <a:lvl1pPr>
              <a:defRPr sz="4794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98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7758">
              <a:lnSpc>
                <a:spcPts val="1665"/>
              </a:lnSpc>
            </a:pPr>
            <a:r>
              <a:rPr lang="en-US"/>
              <a:t>Department</a:t>
            </a:r>
            <a:r>
              <a:rPr lang="en-US" spc="-7"/>
              <a:t> </a:t>
            </a:r>
            <a:r>
              <a:rPr lang="en-US"/>
              <a:t>of</a:t>
            </a:r>
            <a:r>
              <a:rPr lang="en-US" spc="-67"/>
              <a:t> </a:t>
            </a:r>
            <a:r>
              <a:rPr lang="en-US" spc="-13"/>
              <a:t>Computer</a:t>
            </a:r>
            <a:r>
              <a:rPr lang="en-US" spc="33"/>
              <a:t> </a:t>
            </a:r>
            <a:r>
              <a:rPr lang="en-US"/>
              <a:t>Science</a:t>
            </a:r>
            <a:r>
              <a:rPr lang="en-US" spc="-13"/>
              <a:t> Engineering,SSET</a:t>
            </a:r>
            <a:endParaRPr lang="en-US" spc="-13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99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6913">
              <a:spcBef>
                <a:spcPts val="13"/>
              </a:spcBef>
            </a:pPr>
            <a:r>
              <a:rPr lang="en-US" spc="-13"/>
              <a:t>7/15/2025</a:t>
            </a:r>
            <a:endParaRPr lang="en-US" spc="-13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32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143757">
              <a:spcBef>
                <a:spcPts val="926"/>
              </a:spcBef>
            </a:pPr>
            <a:fld id="{81D60167-4931-47E6-BA6A-407CBD079E47}" type="slidenum">
              <a:rPr lang="en-US" spc="-67" smtClean="0"/>
              <a:pPr marL="143757">
                <a:spcBef>
                  <a:spcPts val="926"/>
                </a:spcBef>
              </a:pPr>
              <a:t>‹#›</a:t>
            </a:fld>
            <a:endParaRPr lang="en-US" spc="-67" dirty="0"/>
          </a:p>
        </p:txBody>
      </p:sp>
    </p:spTree>
    <p:extLst>
      <p:ext uri="{BB962C8B-B14F-4D97-AF65-F5344CB8AC3E}">
        <p14:creationId xmlns:p14="http://schemas.microsoft.com/office/powerpoint/2010/main" val="1441509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9873" y="663408"/>
            <a:ext cx="4776047" cy="737766"/>
          </a:xfrm>
        </p:spPr>
        <p:txBody>
          <a:bodyPr lIns="0" tIns="0" rIns="0" bIns="0"/>
          <a:lstStyle>
            <a:lvl1pPr>
              <a:defRPr sz="4794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98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7758">
              <a:lnSpc>
                <a:spcPts val="1665"/>
              </a:lnSpc>
            </a:pPr>
            <a:r>
              <a:rPr lang="en-US"/>
              <a:t>Department</a:t>
            </a:r>
            <a:r>
              <a:rPr lang="en-US" spc="-7"/>
              <a:t> </a:t>
            </a:r>
            <a:r>
              <a:rPr lang="en-US"/>
              <a:t>of</a:t>
            </a:r>
            <a:r>
              <a:rPr lang="en-US" spc="-67"/>
              <a:t> </a:t>
            </a:r>
            <a:r>
              <a:rPr lang="en-US" spc="-13"/>
              <a:t>Computer</a:t>
            </a:r>
            <a:r>
              <a:rPr lang="en-US" spc="33"/>
              <a:t> </a:t>
            </a:r>
            <a:r>
              <a:rPr lang="en-US"/>
              <a:t>Science</a:t>
            </a:r>
            <a:r>
              <a:rPr lang="en-US" spc="-13"/>
              <a:t> Engineering,SSET</a:t>
            </a:r>
            <a:endParaRPr lang="en-US" spc="-13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99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6913">
              <a:spcBef>
                <a:spcPts val="13"/>
              </a:spcBef>
            </a:pPr>
            <a:r>
              <a:rPr lang="en-US" spc="-13"/>
              <a:t>7/15/2025</a:t>
            </a:r>
            <a:endParaRPr lang="en-US" spc="-13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32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143757">
              <a:spcBef>
                <a:spcPts val="926"/>
              </a:spcBef>
            </a:pPr>
            <a:fld id="{81D60167-4931-47E6-BA6A-407CBD079E47}" type="slidenum">
              <a:rPr lang="en-US" spc="-67" smtClean="0"/>
              <a:pPr marL="143757">
                <a:spcBef>
                  <a:spcPts val="926"/>
                </a:spcBef>
              </a:pPr>
              <a:t>‹#›</a:t>
            </a:fld>
            <a:endParaRPr lang="en-US" spc="-67" dirty="0"/>
          </a:p>
        </p:txBody>
      </p:sp>
    </p:spTree>
    <p:extLst>
      <p:ext uri="{BB962C8B-B14F-4D97-AF65-F5344CB8AC3E}">
        <p14:creationId xmlns:p14="http://schemas.microsoft.com/office/powerpoint/2010/main" val="2984482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98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7758">
              <a:lnSpc>
                <a:spcPts val="1665"/>
              </a:lnSpc>
            </a:pPr>
            <a:r>
              <a:rPr lang="en-US"/>
              <a:t>Department</a:t>
            </a:r>
            <a:r>
              <a:rPr lang="en-US" spc="-7"/>
              <a:t> </a:t>
            </a:r>
            <a:r>
              <a:rPr lang="en-US"/>
              <a:t>of</a:t>
            </a:r>
            <a:r>
              <a:rPr lang="en-US" spc="-67"/>
              <a:t> </a:t>
            </a:r>
            <a:r>
              <a:rPr lang="en-US" spc="-13"/>
              <a:t>Computer</a:t>
            </a:r>
            <a:r>
              <a:rPr lang="en-US" spc="33"/>
              <a:t> </a:t>
            </a:r>
            <a:r>
              <a:rPr lang="en-US"/>
              <a:t>Science</a:t>
            </a:r>
            <a:r>
              <a:rPr lang="en-US" spc="-13"/>
              <a:t> Engineering,SSET</a:t>
            </a:r>
            <a:endParaRPr lang="en-US" spc="-13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99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6913">
              <a:spcBef>
                <a:spcPts val="13"/>
              </a:spcBef>
            </a:pPr>
            <a:r>
              <a:rPr lang="en-US" spc="-13"/>
              <a:t>7/15/2025</a:t>
            </a:r>
            <a:endParaRPr lang="en-US" spc="-13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32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143757">
              <a:spcBef>
                <a:spcPts val="926"/>
              </a:spcBef>
            </a:pPr>
            <a:fld id="{81D60167-4931-47E6-BA6A-407CBD079E47}" type="slidenum">
              <a:rPr lang="en-US" spc="-67" smtClean="0"/>
              <a:pPr marL="143757">
                <a:spcBef>
                  <a:spcPts val="926"/>
                </a:spcBef>
              </a:pPr>
              <a:t>‹#›</a:t>
            </a:fld>
            <a:endParaRPr lang="en-US" spc="-67" dirty="0"/>
          </a:p>
        </p:txBody>
      </p:sp>
    </p:spTree>
    <p:extLst>
      <p:ext uri="{BB962C8B-B14F-4D97-AF65-F5344CB8AC3E}">
        <p14:creationId xmlns:p14="http://schemas.microsoft.com/office/powerpoint/2010/main" val="1856602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94485" y="256413"/>
            <a:ext cx="9790556" cy="81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3765" y="1744573"/>
            <a:ext cx="10364469" cy="2312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30446" y="6447704"/>
            <a:ext cx="3531870" cy="198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1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Department</a:t>
            </a:r>
            <a:r>
              <a:rPr spc="-2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40" dirty="0"/>
              <a:t> </a:t>
            </a:r>
            <a:r>
              <a:rPr dirty="0"/>
              <a:t>Science</a:t>
            </a:r>
            <a:r>
              <a:rPr spc="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Engineering,</a:t>
            </a:r>
            <a:r>
              <a:rPr spc="-25" dirty="0"/>
              <a:t> </a:t>
            </a:r>
            <a:r>
              <a:rPr spc="-20" dirty="0"/>
              <a:t>SSET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6939" y="6447704"/>
            <a:ext cx="735964" cy="198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10"/>
              <a:t>05-10-2025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97259" y="6447704"/>
            <a:ext cx="215900" cy="194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44682" y="450850"/>
            <a:ext cx="10585027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12176" y="1250916"/>
            <a:ext cx="10194713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21599" y="6363495"/>
            <a:ext cx="3652943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1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8467">
              <a:lnSpc>
                <a:spcPts val="1167"/>
              </a:lnSpc>
            </a:pPr>
            <a:r>
              <a:rPr lang="en-US"/>
              <a:t>Department</a:t>
            </a:r>
            <a:r>
              <a:rPr lang="en-US" spc="87"/>
              <a:t> </a:t>
            </a:r>
            <a:r>
              <a:rPr lang="en-US"/>
              <a:t>of</a:t>
            </a:r>
            <a:r>
              <a:rPr lang="en-US" spc="90"/>
              <a:t> </a:t>
            </a:r>
            <a:r>
              <a:rPr lang="en-US"/>
              <a:t>Computer</a:t>
            </a:r>
            <a:r>
              <a:rPr lang="en-US" spc="90"/>
              <a:t> </a:t>
            </a:r>
            <a:r>
              <a:rPr lang="en-US"/>
              <a:t>Science</a:t>
            </a:r>
            <a:r>
              <a:rPr lang="en-US" spc="90"/>
              <a:t> </a:t>
            </a:r>
            <a:r>
              <a:rPr lang="en-US"/>
              <a:t>and</a:t>
            </a:r>
            <a:r>
              <a:rPr lang="en-US" spc="90"/>
              <a:t> </a:t>
            </a:r>
            <a:r>
              <a:rPr lang="en-US"/>
              <a:t>Engineering,</a:t>
            </a:r>
            <a:r>
              <a:rPr lang="en-US" spc="87"/>
              <a:t> </a:t>
            </a:r>
            <a:r>
              <a:rPr lang="en-US" spc="93"/>
              <a:t>SSET</a:t>
            </a:r>
            <a:endParaRPr lang="en-US" spc="93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67916" y="6411569"/>
            <a:ext cx="729403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8467">
              <a:lnSpc>
                <a:spcPts val="1167"/>
              </a:lnSpc>
            </a:pPr>
            <a:r>
              <a:rPr lang="en-US" spc="-17"/>
              <a:t>23-10-</a:t>
            </a:r>
            <a:r>
              <a:rPr lang="en-US" spc="-13"/>
              <a:t>2025</a:t>
            </a:r>
            <a:endParaRPr lang="en-US" spc="-13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8327" y="6411569"/>
            <a:ext cx="218585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25401">
              <a:lnSpc>
                <a:spcPts val="1167"/>
              </a:lnSpc>
            </a:pPr>
            <a:fld id="{81D60167-4931-47E6-BA6A-407CBD079E47}" type="slidenum">
              <a:rPr lang="en-US" spc="-33" smtClean="0"/>
              <a:pPr marL="25401">
                <a:lnSpc>
                  <a:spcPts val="1167"/>
                </a:lnSpc>
              </a:pPr>
              <a:t>‹#›</a:t>
            </a:fld>
            <a:endParaRPr lang="en-US" spc="-33" dirty="0"/>
          </a:p>
        </p:txBody>
      </p:sp>
    </p:spTree>
    <p:extLst>
      <p:ext uri="{BB962C8B-B14F-4D97-AF65-F5344CB8AC3E}">
        <p14:creationId xmlns:p14="http://schemas.microsoft.com/office/powerpoint/2010/main" val="1381676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04815">
        <a:defRPr>
          <a:latin typeface="+mn-lt"/>
          <a:ea typeface="+mn-ea"/>
          <a:cs typeface="+mn-cs"/>
        </a:defRPr>
      </a:lvl2pPr>
      <a:lvl3pPr marL="609630">
        <a:defRPr>
          <a:latin typeface="+mn-lt"/>
          <a:ea typeface="+mn-ea"/>
          <a:cs typeface="+mn-cs"/>
        </a:defRPr>
      </a:lvl3pPr>
      <a:lvl4pPr marL="914446">
        <a:defRPr>
          <a:latin typeface="+mn-lt"/>
          <a:ea typeface="+mn-ea"/>
          <a:cs typeface="+mn-cs"/>
        </a:defRPr>
      </a:lvl4pPr>
      <a:lvl5pPr marL="1219261">
        <a:defRPr>
          <a:latin typeface="+mn-lt"/>
          <a:ea typeface="+mn-ea"/>
          <a:cs typeface="+mn-cs"/>
        </a:defRPr>
      </a:lvl5pPr>
      <a:lvl6pPr marL="1524076">
        <a:defRPr>
          <a:latin typeface="+mn-lt"/>
          <a:ea typeface="+mn-ea"/>
          <a:cs typeface="+mn-cs"/>
        </a:defRPr>
      </a:lvl6pPr>
      <a:lvl7pPr marL="1828891">
        <a:defRPr>
          <a:latin typeface="+mn-lt"/>
          <a:ea typeface="+mn-ea"/>
          <a:cs typeface="+mn-cs"/>
        </a:defRPr>
      </a:lvl7pPr>
      <a:lvl8pPr marL="2133707">
        <a:defRPr>
          <a:latin typeface="+mn-lt"/>
          <a:ea typeface="+mn-ea"/>
          <a:cs typeface="+mn-cs"/>
        </a:defRPr>
      </a:lvl8pPr>
      <a:lvl9pPr marL="243852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04815">
        <a:defRPr>
          <a:latin typeface="+mn-lt"/>
          <a:ea typeface="+mn-ea"/>
          <a:cs typeface="+mn-cs"/>
        </a:defRPr>
      </a:lvl2pPr>
      <a:lvl3pPr marL="609630">
        <a:defRPr>
          <a:latin typeface="+mn-lt"/>
          <a:ea typeface="+mn-ea"/>
          <a:cs typeface="+mn-cs"/>
        </a:defRPr>
      </a:lvl3pPr>
      <a:lvl4pPr marL="914446">
        <a:defRPr>
          <a:latin typeface="+mn-lt"/>
          <a:ea typeface="+mn-ea"/>
          <a:cs typeface="+mn-cs"/>
        </a:defRPr>
      </a:lvl4pPr>
      <a:lvl5pPr marL="1219261">
        <a:defRPr>
          <a:latin typeface="+mn-lt"/>
          <a:ea typeface="+mn-ea"/>
          <a:cs typeface="+mn-cs"/>
        </a:defRPr>
      </a:lvl5pPr>
      <a:lvl6pPr marL="1524076">
        <a:defRPr>
          <a:latin typeface="+mn-lt"/>
          <a:ea typeface="+mn-ea"/>
          <a:cs typeface="+mn-cs"/>
        </a:defRPr>
      </a:lvl6pPr>
      <a:lvl7pPr marL="1828891">
        <a:defRPr>
          <a:latin typeface="+mn-lt"/>
          <a:ea typeface="+mn-ea"/>
          <a:cs typeface="+mn-cs"/>
        </a:defRPr>
      </a:lvl7pPr>
      <a:lvl8pPr marL="2133707">
        <a:defRPr>
          <a:latin typeface="+mn-lt"/>
          <a:ea typeface="+mn-ea"/>
          <a:cs typeface="+mn-cs"/>
        </a:defRPr>
      </a:lvl8pPr>
      <a:lvl9pPr marL="2438522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9873" y="663408"/>
            <a:ext cx="4776047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8995" y="1715532"/>
            <a:ext cx="1149400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14029" y="6423042"/>
            <a:ext cx="3762587" cy="205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98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7758">
              <a:lnSpc>
                <a:spcPts val="1665"/>
              </a:lnSpc>
            </a:pPr>
            <a:r>
              <a:rPr lang="en-US"/>
              <a:t>Department</a:t>
            </a:r>
            <a:r>
              <a:rPr lang="en-US" spc="-7"/>
              <a:t> </a:t>
            </a:r>
            <a:r>
              <a:rPr lang="en-US"/>
              <a:t>of</a:t>
            </a:r>
            <a:r>
              <a:rPr lang="en-US" spc="-67"/>
              <a:t> </a:t>
            </a:r>
            <a:r>
              <a:rPr lang="en-US" spc="-13"/>
              <a:t>Computer</a:t>
            </a:r>
            <a:r>
              <a:rPr lang="en-US" spc="33"/>
              <a:t> </a:t>
            </a:r>
            <a:r>
              <a:rPr lang="en-US"/>
              <a:t>Science</a:t>
            </a:r>
            <a:r>
              <a:rPr lang="en-US" spc="-13"/>
              <a:t> Engineering,SSET</a:t>
            </a:r>
            <a:endParaRPr lang="en-US" spc="-13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43389" y="6435815"/>
            <a:ext cx="663787" cy="1845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99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6913">
              <a:spcBef>
                <a:spcPts val="13"/>
              </a:spcBef>
            </a:pPr>
            <a:r>
              <a:rPr lang="en-US" spc="-13"/>
              <a:t>7/15/2025</a:t>
            </a:r>
            <a:endParaRPr lang="en-US" spc="-13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72655" y="6369046"/>
            <a:ext cx="307677" cy="409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32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143757">
              <a:spcBef>
                <a:spcPts val="926"/>
              </a:spcBef>
            </a:pPr>
            <a:fld id="{81D60167-4931-47E6-BA6A-407CBD079E47}" type="slidenum">
              <a:rPr lang="en-US" spc="-67" smtClean="0"/>
              <a:pPr marL="143757">
                <a:spcBef>
                  <a:spcPts val="926"/>
                </a:spcBef>
              </a:pPr>
              <a:t>‹#›</a:t>
            </a:fld>
            <a:endParaRPr lang="en-US" spc="-67" dirty="0"/>
          </a:p>
        </p:txBody>
      </p:sp>
    </p:spTree>
    <p:extLst>
      <p:ext uri="{BB962C8B-B14F-4D97-AF65-F5344CB8AC3E}">
        <p14:creationId xmlns:p14="http://schemas.microsoft.com/office/powerpoint/2010/main" val="4225866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8853">
        <a:defRPr>
          <a:latin typeface="+mn-lt"/>
          <a:ea typeface="+mn-ea"/>
          <a:cs typeface="+mn-cs"/>
        </a:defRPr>
      </a:lvl2pPr>
      <a:lvl3pPr marL="1217706">
        <a:defRPr>
          <a:latin typeface="+mn-lt"/>
          <a:ea typeface="+mn-ea"/>
          <a:cs typeface="+mn-cs"/>
        </a:defRPr>
      </a:lvl3pPr>
      <a:lvl4pPr marL="1826560">
        <a:defRPr>
          <a:latin typeface="+mn-lt"/>
          <a:ea typeface="+mn-ea"/>
          <a:cs typeface="+mn-cs"/>
        </a:defRPr>
      </a:lvl4pPr>
      <a:lvl5pPr marL="2435413">
        <a:defRPr>
          <a:latin typeface="+mn-lt"/>
          <a:ea typeface="+mn-ea"/>
          <a:cs typeface="+mn-cs"/>
        </a:defRPr>
      </a:lvl5pPr>
      <a:lvl6pPr marL="3044266">
        <a:defRPr>
          <a:latin typeface="+mn-lt"/>
          <a:ea typeface="+mn-ea"/>
          <a:cs typeface="+mn-cs"/>
        </a:defRPr>
      </a:lvl6pPr>
      <a:lvl7pPr marL="3653119">
        <a:defRPr>
          <a:latin typeface="+mn-lt"/>
          <a:ea typeface="+mn-ea"/>
          <a:cs typeface="+mn-cs"/>
        </a:defRPr>
      </a:lvl7pPr>
      <a:lvl8pPr marL="4261973">
        <a:defRPr>
          <a:latin typeface="+mn-lt"/>
          <a:ea typeface="+mn-ea"/>
          <a:cs typeface="+mn-cs"/>
        </a:defRPr>
      </a:lvl8pPr>
      <a:lvl9pPr marL="487082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8853">
        <a:defRPr>
          <a:latin typeface="+mn-lt"/>
          <a:ea typeface="+mn-ea"/>
          <a:cs typeface="+mn-cs"/>
        </a:defRPr>
      </a:lvl2pPr>
      <a:lvl3pPr marL="1217706">
        <a:defRPr>
          <a:latin typeface="+mn-lt"/>
          <a:ea typeface="+mn-ea"/>
          <a:cs typeface="+mn-cs"/>
        </a:defRPr>
      </a:lvl3pPr>
      <a:lvl4pPr marL="1826560">
        <a:defRPr>
          <a:latin typeface="+mn-lt"/>
          <a:ea typeface="+mn-ea"/>
          <a:cs typeface="+mn-cs"/>
        </a:defRPr>
      </a:lvl4pPr>
      <a:lvl5pPr marL="2435413">
        <a:defRPr>
          <a:latin typeface="+mn-lt"/>
          <a:ea typeface="+mn-ea"/>
          <a:cs typeface="+mn-cs"/>
        </a:defRPr>
      </a:lvl5pPr>
      <a:lvl6pPr marL="3044266">
        <a:defRPr>
          <a:latin typeface="+mn-lt"/>
          <a:ea typeface="+mn-ea"/>
          <a:cs typeface="+mn-cs"/>
        </a:defRPr>
      </a:lvl6pPr>
      <a:lvl7pPr marL="3653119">
        <a:defRPr>
          <a:latin typeface="+mn-lt"/>
          <a:ea typeface="+mn-ea"/>
          <a:cs typeface="+mn-cs"/>
        </a:defRPr>
      </a:lvl7pPr>
      <a:lvl8pPr marL="4261973">
        <a:defRPr>
          <a:latin typeface="+mn-lt"/>
          <a:ea typeface="+mn-ea"/>
          <a:cs typeface="+mn-cs"/>
        </a:defRPr>
      </a:lvl8pPr>
      <a:lvl9pPr marL="4870826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88285" y="57107"/>
            <a:ext cx="6615430" cy="16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10"/>
              </a:lnSpc>
            </a:pPr>
            <a:r>
              <a:rPr sz="12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OPEN-</a:t>
            </a:r>
            <a:r>
              <a:rPr sz="1200" i="1" dirty="0">
                <a:solidFill>
                  <a:srgbClr val="888888"/>
                </a:solidFill>
                <a:latin typeface="Times New Roman"/>
                <a:cs typeface="Times New Roman"/>
              </a:rPr>
              <a:t>SOURCE</a:t>
            </a:r>
            <a:r>
              <a:rPr sz="1200" i="1" spc="-1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INTELLIGENCE</a:t>
            </a:r>
            <a:r>
              <a:rPr sz="1200" i="1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888888"/>
                </a:solidFill>
                <a:latin typeface="Times New Roman"/>
                <a:cs typeface="Times New Roman"/>
              </a:rPr>
              <a:t>FRAMEWORK</a:t>
            </a:r>
            <a:r>
              <a:rPr sz="1200" i="1" spc="2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888888"/>
                </a:solidFill>
                <a:latin typeface="Times New Roman"/>
                <a:cs typeface="Times New Roman"/>
              </a:rPr>
              <a:t>FOR</a:t>
            </a:r>
            <a:r>
              <a:rPr sz="1200" i="1" spc="-1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CROSS-PLATFORM</a:t>
            </a:r>
            <a:r>
              <a:rPr sz="1200" i="1" spc="-1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888888"/>
                </a:solidFill>
                <a:latin typeface="Times New Roman"/>
                <a:cs typeface="Times New Roman"/>
              </a:rPr>
              <a:t>SOCIAL</a:t>
            </a:r>
            <a:r>
              <a:rPr sz="1200" i="1" spc="-4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MEDIA</a:t>
            </a:r>
            <a:r>
              <a:rPr sz="1200" i="1" spc="-4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ANALYTICS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28" y="136563"/>
            <a:ext cx="1254988" cy="114245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indent="497840">
              <a:lnSpc>
                <a:spcPct val="100000"/>
              </a:lnSpc>
              <a:spcBef>
                <a:spcPts val="100"/>
              </a:spcBef>
            </a:pPr>
            <a:r>
              <a:rPr sz="2600" dirty="0"/>
              <a:t>SCMS</a:t>
            </a:r>
            <a:r>
              <a:rPr sz="2600" spc="-10" dirty="0"/>
              <a:t> </a:t>
            </a:r>
            <a:r>
              <a:rPr sz="2600" dirty="0"/>
              <a:t>SCHOOL</a:t>
            </a:r>
            <a:r>
              <a:rPr sz="2600" spc="-135" dirty="0"/>
              <a:t> </a:t>
            </a:r>
            <a:r>
              <a:rPr sz="2600" dirty="0"/>
              <a:t>OF</a:t>
            </a:r>
            <a:r>
              <a:rPr sz="2600" spc="-90" dirty="0"/>
              <a:t> </a:t>
            </a:r>
            <a:r>
              <a:rPr sz="2600" spc="-10" dirty="0"/>
              <a:t>ENGINEERING</a:t>
            </a:r>
            <a:r>
              <a:rPr sz="2600" spc="-145" dirty="0"/>
              <a:t> </a:t>
            </a:r>
            <a:r>
              <a:rPr sz="2600" dirty="0"/>
              <a:t>AND</a:t>
            </a:r>
            <a:r>
              <a:rPr sz="2600" spc="-45" dirty="0"/>
              <a:t> </a:t>
            </a:r>
            <a:r>
              <a:rPr sz="2600" spc="-10" dirty="0"/>
              <a:t>TECHNOLOGY </a:t>
            </a:r>
            <a:r>
              <a:rPr sz="2600" spc="-30" dirty="0"/>
              <a:t>DEPARTMENT</a:t>
            </a:r>
            <a:r>
              <a:rPr sz="2600" spc="-80" dirty="0"/>
              <a:t> </a:t>
            </a:r>
            <a:r>
              <a:rPr sz="2600" dirty="0"/>
              <a:t>OF</a:t>
            </a:r>
            <a:r>
              <a:rPr sz="2600" spc="-100" dirty="0"/>
              <a:t> </a:t>
            </a:r>
            <a:r>
              <a:rPr sz="2600" dirty="0"/>
              <a:t>COMPUTER</a:t>
            </a:r>
            <a:r>
              <a:rPr sz="2600" spc="-40" dirty="0"/>
              <a:t> </a:t>
            </a:r>
            <a:r>
              <a:rPr sz="2600" spc="-10" dirty="0"/>
              <a:t>SCIENCE</a:t>
            </a:r>
            <a:r>
              <a:rPr sz="2600" spc="-160" dirty="0"/>
              <a:t> </a:t>
            </a:r>
            <a:r>
              <a:rPr sz="2600" dirty="0"/>
              <a:t>AND</a:t>
            </a:r>
            <a:r>
              <a:rPr sz="2600" spc="-20" dirty="0"/>
              <a:t> </a:t>
            </a:r>
            <a:r>
              <a:rPr sz="2600" spc="-10" dirty="0"/>
              <a:t>ENGINEERING</a:t>
            </a:r>
            <a:endParaRPr sz="2600"/>
          </a:p>
        </p:txBody>
      </p:sp>
      <p:sp>
        <p:nvSpPr>
          <p:cNvPr id="12" name="object 12"/>
          <p:cNvSpPr/>
          <p:nvPr/>
        </p:nvSpPr>
        <p:spPr>
          <a:xfrm>
            <a:off x="2712720" y="22644"/>
            <a:ext cx="6746240" cy="220979"/>
          </a:xfrm>
          <a:custGeom>
            <a:avLst/>
            <a:gdLst/>
            <a:ahLst/>
            <a:cxnLst/>
            <a:rect l="l" t="t" r="r" b="b"/>
            <a:pathLst>
              <a:path w="6746240" h="220979">
                <a:moveTo>
                  <a:pt x="6746240" y="0"/>
                </a:moveTo>
                <a:lnTo>
                  <a:pt x="0" y="0"/>
                </a:lnTo>
                <a:lnTo>
                  <a:pt x="0" y="220687"/>
                </a:lnTo>
                <a:lnTo>
                  <a:pt x="6746240" y="220687"/>
                </a:lnTo>
                <a:lnTo>
                  <a:pt x="67462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609958" y="6442184"/>
            <a:ext cx="1016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50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916939" y="6447704"/>
            <a:ext cx="73596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05-10-2025</a:t>
            </a:r>
            <a:endParaRPr spc="-20"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Department</a:t>
            </a:r>
            <a:r>
              <a:rPr spc="-2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40" dirty="0"/>
              <a:t> </a:t>
            </a:r>
            <a:r>
              <a:rPr dirty="0"/>
              <a:t>Science</a:t>
            </a:r>
            <a:r>
              <a:rPr spc="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Engineering,</a:t>
            </a:r>
            <a:r>
              <a:rPr spc="-25" dirty="0"/>
              <a:t> </a:t>
            </a:r>
            <a:r>
              <a:rPr spc="-20" dirty="0"/>
              <a:t>SSET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6864DA-F3BA-EA24-4C67-EEF97CDEF1D8}"/>
              </a:ext>
            </a:extLst>
          </p:cNvPr>
          <p:cNvSpPr txBox="1"/>
          <p:nvPr/>
        </p:nvSpPr>
        <p:spPr>
          <a:xfrm>
            <a:off x="6499098" y="3604385"/>
            <a:ext cx="5279542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50000"/>
              </a:lnSpc>
              <a:spcBef>
                <a:spcPts val="400"/>
              </a:spcBef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  <a:r>
              <a:rPr lang="en-IN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en-I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Mr. Athul Krishna S  [SCM22CS072]</a:t>
            </a:r>
            <a:br>
              <a:rPr lang="en-GB" sz="2000" dirty="0">
                <a:latin typeface="Times New Roman" pitchFamily="18" charset="0"/>
                <a:cs typeface="Times New Roman" pitchFamily="18" charset="0"/>
              </a:rPr>
            </a:b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  Mr.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James Renil Sebastian  </a:t>
            </a:r>
            <a:r>
              <a:rPr lang="en-GB" sz="2000" dirty="0">
                <a:latin typeface="Times New Roman" panose="02020603050405020304" pitchFamily="18" charset="0"/>
                <a:cs typeface="Times New Roman" pitchFamily="18" charset="0"/>
              </a:rPr>
              <a:t>[SCM22CS122]</a:t>
            </a:r>
            <a:br>
              <a:rPr lang="en-GB" sz="2000" dirty="0"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GB" sz="2000" dirty="0">
                <a:latin typeface="Times New Roman" panose="02020603050405020304" pitchFamily="18" charset="0"/>
                <a:cs typeface="Times New Roman" pitchFamily="18" charset="0"/>
              </a:rPr>
              <a:t>  Mr. Johan Itty Jones[SCM22CS130]</a:t>
            </a:r>
            <a:br>
              <a:rPr lang="en-GB" sz="2000" dirty="0"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GB" sz="2000" dirty="0">
                <a:latin typeface="Times New Roman" panose="02020603050405020304" pitchFamily="18" charset="0"/>
                <a:cs typeface="Times New Roman" pitchFamily="18" charset="0"/>
              </a:rPr>
              <a:t>  Mr. Luke Rommel </a:t>
            </a:r>
            <a:r>
              <a:rPr lang="en-GB" sz="2000" dirty="0" err="1">
                <a:latin typeface="Times New Roman" panose="02020603050405020304" pitchFamily="18" charset="0"/>
                <a:cs typeface="Times New Roman" pitchFamily="18" charset="0"/>
              </a:rPr>
              <a:t>Mylaady</a:t>
            </a:r>
            <a:r>
              <a:rPr lang="en-GB" sz="2000" dirty="0">
                <a:latin typeface="Times New Roman" panose="02020603050405020304" pitchFamily="18" charset="0"/>
                <a:cs typeface="Times New Roman" pitchFamily="18" charset="0"/>
              </a:rPr>
              <a:t>[SCM22CS138]</a:t>
            </a:r>
            <a:endParaRPr lang="en-IN" sz="200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3C5F13-8957-07D4-48C7-BB4B5BF021EA}"/>
              </a:ext>
            </a:extLst>
          </p:cNvPr>
          <p:cNvSpPr txBox="1"/>
          <p:nvPr/>
        </p:nvSpPr>
        <p:spPr>
          <a:xfrm>
            <a:off x="706122" y="3604385"/>
            <a:ext cx="4844143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 :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Dr. Noora V T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>
                <a:latin typeface="Times New Roman"/>
                <a:cs typeface="Times New Roman"/>
              </a:rPr>
              <a:t>Associate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Professor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and Engineering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SSET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16522C-286C-E173-0D53-F5A4932A9809}"/>
              </a:ext>
            </a:extLst>
          </p:cNvPr>
          <p:cNvSpPr txBox="1"/>
          <p:nvPr/>
        </p:nvSpPr>
        <p:spPr>
          <a:xfrm>
            <a:off x="1871483" y="1773652"/>
            <a:ext cx="96519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Driven IoT Framework for Energy </a:t>
            </a:r>
          </a:p>
          <a:p>
            <a:pPr lvl="0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in Ductless HVAC Systems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8DDDB025-4436-9971-7FFD-FC64545CBBB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lang="en-US" spc="-25" smtClean="0"/>
              <a:t>1</a:t>
            </a:fld>
            <a:endParaRPr lang="en-US"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28" y="136563"/>
            <a:ext cx="1254988" cy="114245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48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05-10-2025</a:t>
            </a: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40" dirty="0"/>
              <a:t> </a:t>
            </a:r>
            <a:r>
              <a:rPr dirty="0"/>
              <a:t>Science and</a:t>
            </a:r>
            <a:r>
              <a:rPr spc="-40" dirty="0"/>
              <a:t> </a:t>
            </a:r>
            <a:r>
              <a:rPr dirty="0"/>
              <a:t>Engineering,</a:t>
            </a:r>
            <a:r>
              <a:rPr spc="-30" dirty="0"/>
              <a:t> </a:t>
            </a:r>
            <a:r>
              <a:rPr spc="-20" dirty="0"/>
              <a:t>SSET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16939" y="1533880"/>
            <a:ext cx="3807460" cy="36836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10" dirty="0">
                <a:latin typeface="Times New Roman"/>
                <a:cs typeface="Times New Roman"/>
              </a:rPr>
              <a:t>INTRODUCTION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OBJECTIVE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PROJECT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10" dirty="0">
                <a:latin typeface="Times New Roman"/>
                <a:cs typeface="Times New Roman"/>
              </a:rPr>
              <a:t>SYSTEM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ARCHITECTURE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30" dirty="0">
                <a:latin typeface="Times New Roman"/>
                <a:cs typeface="Times New Roman"/>
              </a:rPr>
              <a:t>IMPLEMENTATION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DETAILS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ROAD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MAP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PROJECT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10" dirty="0">
                <a:latin typeface="Times New Roman"/>
                <a:cs typeface="Times New Roman"/>
              </a:rPr>
              <a:t>PROGRESS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10" dirty="0">
                <a:latin typeface="Times New Roman"/>
                <a:cs typeface="Times New Roman"/>
              </a:rPr>
              <a:t>REFERENCES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10" dirty="0">
                <a:latin typeface="Times New Roman"/>
                <a:cs typeface="Times New Roman"/>
              </a:rPr>
              <a:t>SCREENSHOTS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Google Shape;62;p14">
            <a:extLst>
              <a:ext uri="{FF2B5EF4-FFF2-40B4-BE49-F238E27FC236}">
                <a16:creationId xmlns:a16="http://schemas.microsoft.com/office/drawing/2014/main" id="{1ACF1D04-8C86-2EB7-5B87-E94A922E1813}"/>
              </a:ext>
            </a:extLst>
          </p:cNvPr>
          <p:cNvSpPr txBox="1">
            <a:spLocks/>
          </p:cNvSpPr>
          <p:nvPr/>
        </p:nvSpPr>
        <p:spPr>
          <a:xfrm>
            <a:off x="3245420" y="-48175"/>
            <a:ext cx="6488685" cy="3969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lvl1pPr marL="0">
              <a:defRPr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200" i="1" spc="-10" dirty="0">
                <a:solidFill>
                  <a:srgbClr val="888888"/>
                </a:solidFill>
              </a:rPr>
              <a:t>AI Driven IoT Framework for Energy Optimization in Ductless HVAC Systems    </a:t>
            </a:r>
            <a:endParaRPr lang="en-US" sz="2200" i="1" spc="-10" dirty="0">
              <a:solidFill>
                <a:srgbClr val="888888"/>
              </a:solidFill>
              <a:sym typeface="Times New Roman"/>
            </a:endParaRPr>
          </a:p>
          <a:p>
            <a:pPr algn="l" rtl="0"/>
            <a:endParaRPr lang="en-US" dirty="0">
              <a:solidFill>
                <a:schemeClr val="dk1"/>
              </a:solidFill>
              <a:ea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75585" y="27813"/>
            <a:ext cx="66408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AI Driven IoT Framework for Energy Optimization in Ductless HVAC Systems </a:t>
            </a: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28" y="136563"/>
            <a:ext cx="1254988" cy="114245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104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05-10-2025</a:t>
            </a: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40" dirty="0"/>
              <a:t> </a:t>
            </a:r>
            <a:r>
              <a:rPr dirty="0"/>
              <a:t>Science and</a:t>
            </a:r>
            <a:r>
              <a:rPr spc="-40" dirty="0"/>
              <a:t> </a:t>
            </a:r>
            <a:r>
              <a:rPr dirty="0"/>
              <a:t>Engineering,</a:t>
            </a:r>
            <a:r>
              <a:rPr spc="-30" dirty="0"/>
              <a:t> </a:t>
            </a:r>
            <a:r>
              <a:rPr spc="-20" dirty="0"/>
              <a:t>SSET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1" name="Google Shape;69;p15">
            <a:extLst>
              <a:ext uri="{FF2B5EF4-FFF2-40B4-BE49-F238E27FC236}">
                <a16:creationId xmlns:a16="http://schemas.microsoft.com/office/drawing/2014/main" id="{B071818B-AD83-D77B-A279-AADA07277C45}"/>
              </a:ext>
            </a:extLst>
          </p:cNvPr>
          <p:cNvSpPr txBox="1">
            <a:spLocks/>
          </p:cNvSpPr>
          <p:nvPr/>
        </p:nvSpPr>
        <p:spPr>
          <a:xfrm>
            <a:off x="916938" y="1299336"/>
            <a:ext cx="10817861" cy="449186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0">
              <a:defRPr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indent="-457200" algn="l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Rising demand for energy-efficient cooling solutions in homes and offices.</a:t>
            </a:r>
          </a:p>
          <a:p>
            <a:pPr indent="-457200" algn="l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ductless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Heating Ventilation and Air Conditioning systems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(HVAC)  lack intelligent </a:t>
            </a:r>
          </a:p>
          <a:p>
            <a:pPr algn="l"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control, leading to energy waste.</a:t>
            </a:r>
          </a:p>
          <a:p>
            <a:pPr indent="-457200" algn="l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introduces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smart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monitor HVAC parameters in real time.</a:t>
            </a:r>
          </a:p>
          <a:p>
            <a:pPr indent="-457200" algn="l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Nearest Neighbor-Density Based Spatial Clustering of Applications with Noise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(NN</a:t>
            </a:r>
          </a:p>
          <a:p>
            <a:pPr algn="l"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-DBSCAN) algorithm to detect anomalies and optimize energy usage.</a:t>
            </a:r>
          </a:p>
          <a:p>
            <a:pPr indent="-457200" algn="l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lightweight, scalable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solution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real-time dashboard.</a:t>
            </a:r>
          </a:p>
          <a:p>
            <a:pPr indent="-457200" algn="l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dependency on complex cloud-based infrastructure or costly AI setups.</a:t>
            </a:r>
          </a:p>
          <a:p>
            <a:pPr indent="-457200" algn="l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75585" y="27813"/>
            <a:ext cx="66408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AI Driven IoT Framework for Energy Optimization in Ductless HVAC Systems </a:t>
            </a: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28" y="136563"/>
            <a:ext cx="1254988" cy="114245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104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100"/>
              </a:spcBef>
            </a:pPr>
            <a:r>
              <a:rPr dirty="0"/>
              <a:t>OBJECTIVE </a:t>
            </a:r>
            <a:r>
              <a:rPr spc="-20" dirty="0"/>
              <a:t>OF</a:t>
            </a:r>
            <a:r>
              <a:rPr spc="-200" dirty="0"/>
              <a:t> </a:t>
            </a:r>
            <a:r>
              <a:rPr dirty="0"/>
              <a:t>THE </a:t>
            </a:r>
            <a:r>
              <a:rPr spc="-10" dirty="0"/>
              <a:t>PROJECT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05-10-2025</a:t>
            </a: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40" dirty="0"/>
              <a:t> </a:t>
            </a:r>
            <a:r>
              <a:rPr dirty="0"/>
              <a:t>Science and</a:t>
            </a:r>
            <a:r>
              <a:rPr spc="-40" dirty="0"/>
              <a:t> </a:t>
            </a:r>
            <a:r>
              <a:rPr dirty="0"/>
              <a:t>Engineering,</a:t>
            </a:r>
            <a:r>
              <a:rPr spc="-30" dirty="0"/>
              <a:t> </a:t>
            </a:r>
            <a:r>
              <a:rPr spc="-20" dirty="0"/>
              <a:t>SSET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9" name="Google Shape;76;p16">
            <a:extLst>
              <a:ext uri="{FF2B5EF4-FFF2-40B4-BE49-F238E27FC236}">
                <a16:creationId xmlns:a16="http://schemas.microsoft.com/office/drawing/2014/main" id="{F185F64C-037A-6703-9E51-97C57C37073B}"/>
              </a:ext>
            </a:extLst>
          </p:cNvPr>
          <p:cNvSpPr txBox="1">
            <a:spLocks/>
          </p:cNvSpPr>
          <p:nvPr/>
        </p:nvSpPr>
        <p:spPr>
          <a:xfrm>
            <a:off x="916939" y="1845978"/>
            <a:ext cx="10180320" cy="38211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marL="0">
              <a:defRPr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indent="-457200" algn="just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environmental and HVAC system parameters (temperature, voltage,</a:t>
            </a:r>
          </a:p>
          <a:p>
            <a:pPr algn="just"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current).</a:t>
            </a:r>
          </a:p>
          <a:p>
            <a:pPr indent="-457200" algn="just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anomalies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power usage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NN-DBSCAN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clustering algorithm.</a:t>
            </a:r>
          </a:p>
          <a:p>
            <a:pPr indent="-457200" algn="just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energy consumption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dynamically based on usage patterns and detected anomalies.</a:t>
            </a:r>
          </a:p>
          <a:p>
            <a:pPr indent="-457200" algn="just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modular IoT setup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ductless HVAC systems in small offices and</a:t>
            </a:r>
          </a:p>
          <a:p>
            <a:pPr algn="just"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homes.</a:t>
            </a:r>
          </a:p>
          <a:p>
            <a:pPr indent="-457200" algn="just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real-time dashboard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user interaction, system monitoring, and control</a:t>
            </a:r>
          </a:p>
          <a:p>
            <a:pPr algn="just"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decisions.</a:t>
            </a:r>
          </a:p>
          <a:p>
            <a:pPr algn="l">
              <a:lnSpc>
                <a:spcPct val="150000"/>
              </a:lnSpc>
              <a:buClr>
                <a:schemeClr val="dk1"/>
              </a:buClr>
              <a:buSzPct val="100000"/>
            </a:pPr>
            <a:endParaRPr lang="en-US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63334" y="94652"/>
            <a:ext cx="7356263" cy="193216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AI Driven IoT Framework for Energy Optimization in Ductless HVAC Systems </a:t>
            </a:r>
            <a:endParaRPr lang="en-US" sz="12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28" y="136563"/>
            <a:ext cx="1253994" cy="114242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63122" y="300567"/>
            <a:ext cx="7056685" cy="1116545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1176079">
              <a:spcBef>
                <a:spcPts val="67"/>
              </a:spcBef>
            </a:pPr>
            <a:r>
              <a:rPr spc="40" dirty="0"/>
              <a:t>MOTIVATION</a:t>
            </a:r>
            <a:r>
              <a:rPr spc="-20" dirty="0"/>
              <a:t> </a:t>
            </a:r>
            <a:r>
              <a:rPr spc="40" dirty="0"/>
              <a:t>OF</a:t>
            </a:r>
            <a:r>
              <a:rPr spc="-17" dirty="0"/>
              <a:t> </a:t>
            </a:r>
            <a:r>
              <a:rPr spc="40" dirty="0"/>
              <a:t>THE</a:t>
            </a:r>
            <a:r>
              <a:rPr spc="-17" dirty="0"/>
              <a:t> </a:t>
            </a:r>
            <a:r>
              <a:rPr spc="50" dirty="0"/>
              <a:t>PROJECT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79560" y="1613783"/>
            <a:ext cx="10667999" cy="4223186"/>
          </a:xfrm>
          <a:prstGeom prst="rect">
            <a:avLst/>
          </a:prstGeom>
        </p:spPr>
        <p:txBody>
          <a:bodyPr vert="horz" wrap="square" lIns="0" tIns="8043" rIns="0" bIns="0" rtlCol="0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HVAC systems account for a major portion of global energy consumption.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operation and lack of monitoring cause significant energy wastage.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smart HVAC solutions are either too expensive or dependent on complex cloud infrastructure.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advancements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IoT, edge computing, and AI algorithms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lightweight and affordable smart control systems.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 build a system that reduces energy waste while being simple enough for small-scale environments.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67" defTabSz="609630">
              <a:lnSpc>
                <a:spcPts val="1167"/>
              </a:lnSpc>
            </a:pPr>
            <a:r>
              <a:rPr spc="-17" dirty="0"/>
              <a:t>23-10-</a:t>
            </a:r>
            <a:r>
              <a:rPr spc="-13" dirty="0"/>
              <a:t>2025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4306318" y="6309881"/>
            <a:ext cx="3814485" cy="203376"/>
          </a:xfrm>
          <a:prstGeom prst="rect">
            <a:avLst/>
          </a:prstGeom>
        </p:spPr>
        <p:txBody>
          <a:bodyPr vert="horz" wrap="square" lIns="0" tIns="49009" rIns="0" bIns="0" rtlCol="0">
            <a:spAutoFit/>
          </a:bodyPr>
          <a:lstStyle/>
          <a:p>
            <a:pPr marL="8467" defTabSz="609630">
              <a:lnSpc>
                <a:spcPts val="1167"/>
              </a:lnSpc>
            </a:pPr>
            <a:r>
              <a:rPr dirty="0"/>
              <a:t>Department</a:t>
            </a:r>
            <a:r>
              <a:rPr spc="87" dirty="0"/>
              <a:t> </a:t>
            </a:r>
            <a:r>
              <a:rPr dirty="0"/>
              <a:t>of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dirty="0"/>
              <a:t>Science</a:t>
            </a:r>
            <a:r>
              <a:rPr spc="90" dirty="0"/>
              <a:t> </a:t>
            </a:r>
            <a:r>
              <a:rPr dirty="0"/>
              <a:t>and</a:t>
            </a:r>
            <a:r>
              <a:rPr spc="90" dirty="0"/>
              <a:t> </a:t>
            </a:r>
            <a:r>
              <a:rPr dirty="0"/>
              <a:t>Engineering,</a:t>
            </a:r>
            <a:r>
              <a:rPr spc="87" dirty="0"/>
              <a:t> </a:t>
            </a:r>
            <a:r>
              <a:rPr spc="93" dirty="0"/>
              <a:t>SSET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1" defTabSz="609630">
              <a:lnSpc>
                <a:spcPts val="1167"/>
              </a:lnSpc>
            </a:pPr>
            <a:fld id="{81D60167-4931-47E6-BA6A-407CBD079E47}" type="slidenum">
              <a:rPr spc="-33" dirty="0"/>
              <a:pPr marL="25401" defTabSz="609630">
                <a:lnSpc>
                  <a:spcPts val="1167"/>
                </a:lnSpc>
              </a:pPr>
              <a:t>5</a:t>
            </a:fld>
            <a:endParaRPr spc="-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95600" y="73418"/>
            <a:ext cx="7356263" cy="193216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AI Driven IoT Framework for Energy Optimization in Ductless HVAC Systems </a:t>
            </a:r>
            <a:endParaRPr lang="en-US" sz="12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28" y="136563"/>
            <a:ext cx="1253994" cy="114242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73415" y="549040"/>
            <a:ext cx="8824807" cy="562547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  <a:tabLst>
                <a:tab pos="3357201" algn="l"/>
                <a:tab pos="4505339" algn="l"/>
              </a:tabLst>
            </a:pPr>
            <a:r>
              <a:rPr spc="30" dirty="0"/>
              <a:t>CHALLENGES</a:t>
            </a:r>
            <a:r>
              <a:rPr dirty="0"/>
              <a:t>	</a:t>
            </a:r>
            <a:r>
              <a:rPr spc="76" dirty="0"/>
              <a:t>AND</a:t>
            </a:r>
            <a:r>
              <a:rPr dirty="0"/>
              <a:t>	</a:t>
            </a:r>
            <a:r>
              <a:rPr spc="60" dirty="0"/>
              <a:t>CONSIDERATIONS</a:t>
            </a:r>
          </a:p>
        </p:txBody>
      </p:sp>
      <p:sp>
        <p:nvSpPr>
          <p:cNvPr id="5" name="object 5"/>
          <p:cNvSpPr/>
          <p:nvPr/>
        </p:nvSpPr>
        <p:spPr>
          <a:xfrm>
            <a:off x="4739059" y="2703361"/>
            <a:ext cx="35560" cy="25400"/>
          </a:xfrm>
          <a:custGeom>
            <a:avLst/>
            <a:gdLst/>
            <a:ahLst/>
            <a:cxnLst/>
            <a:rect l="l" t="t" r="r" b="b"/>
            <a:pathLst>
              <a:path w="53340" h="38100">
                <a:moveTo>
                  <a:pt x="52872" y="38099"/>
                </a:moveTo>
                <a:lnTo>
                  <a:pt x="0" y="38099"/>
                </a:lnTo>
                <a:lnTo>
                  <a:pt x="0" y="0"/>
                </a:lnTo>
                <a:lnTo>
                  <a:pt x="52872" y="0"/>
                </a:lnTo>
                <a:lnTo>
                  <a:pt x="52872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609630"/>
            <a:endParaRPr sz="120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67" defTabSz="609630">
              <a:lnSpc>
                <a:spcPts val="1167"/>
              </a:lnSpc>
            </a:pPr>
            <a:r>
              <a:rPr spc="-17" dirty="0"/>
              <a:t>23-10-</a:t>
            </a:r>
            <a:r>
              <a:rPr spc="-13" dirty="0"/>
              <a:t>2025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4343400" y="6309881"/>
            <a:ext cx="3886200" cy="203376"/>
          </a:xfrm>
          <a:prstGeom prst="rect">
            <a:avLst/>
          </a:prstGeom>
        </p:spPr>
        <p:txBody>
          <a:bodyPr vert="horz" wrap="square" lIns="0" tIns="49009" rIns="0" bIns="0" rtlCol="0">
            <a:spAutoFit/>
          </a:bodyPr>
          <a:lstStyle/>
          <a:p>
            <a:pPr marL="8467" defTabSz="609630">
              <a:lnSpc>
                <a:spcPts val="1167"/>
              </a:lnSpc>
            </a:pPr>
            <a:r>
              <a:rPr dirty="0"/>
              <a:t>Department</a:t>
            </a:r>
            <a:r>
              <a:rPr spc="87" dirty="0"/>
              <a:t> </a:t>
            </a:r>
            <a:r>
              <a:rPr dirty="0"/>
              <a:t>of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dirty="0"/>
              <a:t>Science</a:t>
            </a:r>
            <a:r>
              <a:rPr spc="90" dirty="0"/>
              <a:t> </a:t>
            </a:r>
            <a:r>
              <a:rPr dirty="0"/>
              <a:t>and</a:t>
            </a:r>
            <a:r>
              <a:rPr spc="90" dirty="0"/>
              <a:t> </a:t>
            </a:r>
            <a:r>
              <a:rPr dirty="0"/>
              <a:t>Engineering,</a:t>
            </a:r>
            <a:r>
              <a:rPr spc="87" dirty="0"/>
              <a:t> </a:t>
            </a:r>
            <a:r>
              <a:rPr spc="93" dirty="0"/>
              <a:t>SSET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1" defTabSz="609630">
              <a:lnSpc>
                <a:spcPts val="1167"/>
              </a:lnSpc>
            </a:pPr>
            <a:fld id="{81D60167-4931-47E6-BA6A-407CBD079E47}" type="slidenum">
              <a:rPr spc="-33" dirty="0"/>
              <a:pPr marL="25401" defTabSz="609630">
                <a:lnSpc>
                  <a:spcPts val="1167"/>
                </a:lnSpc>
              </a:pPr>
              <a:t>6</a:t>
            </a:fld>
            <a:endParaRPr spc="-33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DBA66986-35E2-D172-51D6-F126A266EBF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32879" y="1676400"/>
            <a:ext cx="10210800" cy="3691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real-time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 from multiple sensors (temperature, current, voltage).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Ensuring seamless data transmission and synchronization in the IoT network.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Maintaining system stability under fluctuating loads and environmental conditions.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Minimizing computational overhead for edge processing on devices like Raspberry Pi.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Designing an adaptive algorithm that performs well across different HVAC models.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Balancing energy optimization with user comfort.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13A3F6A-D0C3-F1C3-ED7D-121D9E458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9D51DDD-8254-F549-6B87-75BADF2C7262}"/>
              </a:ext>
            </a:extLst>
          </p:cNvPr>
          <p:cNvSpPr txBox="1"/>
          <p:nvPr/>
        </p:nvSpPr>
        <p:spPr>
          <a:xfrm>
            <a:off x="4389702" y="31794"/>
            <a:ext cx="4525698" cy="184647"/>
          </a:xfrm>
          <a:prstGeom prst="rect">
            <a:avLst/>
          </a:prstGeom>
        </p:spPr>
        <p:txBody>
          <a:bodyPr vert="horz" wrap="square" lIns="0" tIns="152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AI Driven IoT Framework for Energy Optimization in Ductless HVAC Systems </a:t>
            </a:r>
            <a:endParaRPr lang="en-US" sz="1100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D5E060F-F84D-A1C7-D90C-6DAA5D8176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0619" y="253450"/>
            <a:ext cx="6375995" cy="754843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6913">
              <a:spcBef>
                <a:spcPts val="133"/>
              </a:spcBef>
            </a:pPr>
            <a:r>
              <a:rPr dirty="0"/>
              <a:t>LITERATURE</a:t>
            </a:r>
            <a:r>
              <a:rPr spc="-7" dirty="0"/>
              <a:t> </a:t>
            </a:r>
            <a:r>
              <a:rPr spc="-13" dirty="0"/>
              <a:t>SURVEY</a:t>
            </a:r>
          </a:p>
        </p:txBody>
      </p:sp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D890358B-EF73-3608-3BF0-C6D3A96813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085273"/>
              </p:ext>
            </p:extLst>
          </p:nvPr>
        </p:nvGraphicFramePr>
        <p:xfrm>
          <a:off x="685801" y="1497847"/>
          <a:ext cx="10972800" cy="3971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2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2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0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7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399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770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Sl.</a:t>
                      </a: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9892" marB="0">
                    <a:lnL w="9525">
                      <a:solidFill>
                        <a:srgbClr val="3B81F3"/>
                      </a:solidFill>
                      <a:prstDash val="solid"/>
                    </a:lnL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9892" marB="0"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1625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Author(s)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9892" marB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703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Methodology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9892" marB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568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Inference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9892" marB="0">
                    <a:lnR w="9525">
                      <a:solidFill>
                        <a:srgbClr val="3B81F3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815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3274" marB="0">
                    <a:lnL w="9525">
                      <a:solidFill>
                        <a:srgbClr val="3B81F3"/>
                      </a:solidFill>
                      <a:prstDash val="solid"/>
                    </a:lnL>
                    <a:lnR w="9525" cap="flat" cmpd="sng" algn="ctr">
                      <a:solidFill>
                        <a:srgbClr val="3B8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B81F3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Artificial Intelligence Approaches to Energy Management in HVAC Systems</a:t>
                      </a:r>
                    </a:p>
                  </a:txBody>
                  <a:tcPr anchor="ctr">
                    <a:lnL w="9525">
                      <a:solidFill>
                        <a:srgbClr val="3B81F3"/>
                      </a:solidFill>
                      <a:prstDash val="solid"/>
                    </a:lnL>
                    <a:lnR w="9525">
                      <a:solidFill>
                        <a:srgbClr val="3B81F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 cap="flat" cmpd="sng" algn="ctr">
                      <a:solidFill>
                        <a:srgbClr val="3B8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S.A. Aghili et al., 2025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3274" marB="0">
                    <a:lnL w="9525" cap="flat" cmpd="sng" algn="ctr">
                      <a:solidFill>
                        <a:srgbClr val="3B8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B81F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 cap="flat" cmpd="sng" algn="ctr">
                      <a:solidFill>
                        <a:srgbClr val="3B8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45212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Reviewed AI-based optimization and fault detection techniques for HVAC energy management.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3274" marB="0">
                    <a:lnL w="9525">
                      <a:solidFill>
                        <a:srgbClr val="3B81F3"/>
                      </a:solidFill>
                      <a:prstDash val="solid"/>
                    </a:lnL>
                    <a:lnR w="9525">
                      <a:solidFill>
                        <a:srgbClr val="3B81F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B81F3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3911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Demonstrated potential of AI models in reducing energy consumption by 15–25%.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3274" marB="0">
                    <a:lnL w="9525">
                      <a:solidFill>
                        <a:srgbClr val="3B81F3"/>
                      </a:solidFill>
                      <a:prstDash val="solid"/>
                    </a:lnL>
                    <a:lnR w="9525">
                      <a:solidFill>
                        <a:srgbClr val="3B81F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B81F3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083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4965" marB="0">
                    <a:lnL w="9525">
                      <a:solidFill>
                        <a:srgbClr val="3B81F3"/>
                      </a:solidFill>
                      <a:prstDash val="solid"/>
                    </a:lnL>
                    <a:lnR w="9525" cap="flat" cmpd="sng" algn="ctr">
                      <a:solidFill>
                        <a:srgbClr val="3B8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3B81F3"/>
                      </a:solidFill>
                      <a:prstDash val="solid"/>
                    </a:lnT>
                    <a:lnB w="9525">
                      <a:solidFill>
                        <a:srgbClr val="3B81F3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Bayesian Optimization Framework for HVAC Control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>
                      <a:solidFill>
                        <a:srgbClr val="3B81F3"/>
                      </a:solidFill>
                      <a:prstDash val="solid"/>
                    </a:lnL>
                    <a:lnR w="9525" cap="flat" cmpd="sng" algn="ctr">
                      <a:solidFill>
                        <a:srgbClr val="3B8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8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B81F3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X. Lin et al., 2023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B8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B81F3"/>
                      </a:solidFill>
                      <a:prstDash val="solid"/>
                    </a:lnR>
                    <a:lnT w="9525">
                      <a:solidFill>
                        <a:srgbClr val="3B81F3"/>
                      </a:solidFill>
                      <a:prstDash val="solid"/>
                    </a:lnT>
                    <a:lnB w="9525">
                      <a:solidFill>
                        <a:srgbClr val="3B81F3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33909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Bayesian framework for automatic adjustment of control parameters.</a:t>
                      </a:r>
                    </a:p>
                  </a:txBody>
                  <a:tcPr marL="0" marR="0" marT="54965" marB="0">
                    <a:lnL w="9525" cap="flat" cmpd="sng" algn="ctr">
                      <a:solidFill>
                        <a:srgbClr val="3B8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B81F3"/>
                      </a:solidFill>
                      <a:prstDash val="solid"/>
                    </a:lnR>
                    <a:lnT w="9525">
                      <a:solidFill>
                        <a:srgbClr val="3B81F3"/>
                      </a:solidFill>
                      <a:prstDash val="solid"/>
                    </a:lnT>
                    <a:lnB w="9525">
                      <a:solidFill>
                        <a:srgbClr val="3B81F3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714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lang="en-US"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adaptability to dynamic temperature and occupancy patterns</a:t>
                      </a:r>
                    </a:p>
                  </a:txBody>
                  <a:tcPr marL="0" marR="0" marT="54965" marB="0">
                    <a:lnL w="9525">
                      <a:solidFill>
                        <a:srgbClr val="3B81F3"/>
                      </a:solidFill>
                      <a:prstDash val="solid"/>
                    </a:lnL>
                    <a:lnR w="9525">
                      <a:solidFill>
                        <a:srgbClr val="3B81F3"/>
                      </a:solidFill>
                      <a:prstDash val="solid"/>
                    </a:lnR>
                    <a:lnT w="9525">
                      <a:solidFill>
                        <a:srgbClr val="3B81F3"/>
                      </a:solidFill>
                      <a:prstDash val="solid"/>
                    </a:lnT>
                    <a:lnB w="9525">
                      <a:solidFill>
                        <a:srgbClr val="3B81F3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054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4965" marB="0">
                    <a:lnL w="9525">
                      <a:solidFill>
                        <a:srgbClr val="3B81F3"/>
                      </a:solidFill>
                      <a:prstDash val="solid"/>
                    </a:lnL>
                    <a:lnR w="9525">
                      <a:solidFill>
                        <a:srgbClr val="3B81F3"/>
                      </a:solidFill>
                      <a:prstDash val="solid"/>
                    </a:lnR>
                    <a:lnT w="9525">
                      <a:solidFill>
                        <a:srgbClr val="3B81F3"/>
                      </a:solidFill>
                      <a:prstDash val="solid"/>
                    </a:lnT>
                    <a:lnB w="9525">
                      <a:solidFill>
                        <a:srgbClr val="3B81F3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352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Forecasting for Cooling Systems</a:t>
                      </a:r>
                    </a:p>
                  </a:txBody>
                  <a:tcPr marL="0" marR="0" marT="54965" marB="0">
                    <a:lnL w="9525">
                      <a:solidFill>
                        <a:srgbClr val="3B81F3"/>
                      </a:solidFill>
                      <a:prstDash val="solid"/>
                    </a:lnL>
                    <a:lnR w="9525">
                      <a:solidFill>
                        <a:srgbClr val="3B81F3"/>
                      </a:solidFill>
                      <a:prstDash val="solid"/>
                    </a:lnR>
                    <a:lnT w="9525" cap="flat" cmpd="sng" algn="ctr">
                      <a:solidFill>
                        <a:srgbClr val="3B8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8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D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J. Runge &amp; R. Zmeureanu, 2022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4965" marB="0">
                    <a:lnL w="9525">
                      <a:solidFill>
                        <a:srgbClr val="3B81F3"/>
                      </a:solidFill>
                      <a:prstDash val="solid"/>
                    </a:lnL>
                    <a:lnR w="9525">
                      <a:solidFill>
                        <a:srgbClr val="3B81F3"/>
                      </a:solidFill>
                      <a:prstDash val="solid"/>
                    </a:lnR>
                    <a:lnT w="9525" cap="flat" cmpd="sng" algn="ctr">
                      <a:solidFill>
                        <a:srgbClr val="3B8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B81F3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Applied deep learning to forecast cooling demand and optimize scheduling.</a:t>
                      </a:r>
                    </a:p>
                  </a:txBody>
                  <a:tcPr marL="0" marR="0" marT="54965" marB="0">
                    <a:lnL w="9525">
                      <a:solidFill>
                        <a:srgbClr val="3B81F3"/>
                      </a:solidFill>
                      <a:prstDash val="solid"/>
                    </a:lnL>
                    <a:lnR w="9525">
                      <a:solidFill>
                        <a:srgbClr val="3B81F3"/>
                      </a:solidFill>
                      <a:prstDash val="solid"/>
                    </a:lnR>
                    <a:lnT w="9525">
                      <a:solidFill>
                        <a:srgbClr val="3B81F3"/>
                      </a:solidFill>
                      <a:prstDash val="solid"/>
                    </a:lnT>
                    <a:lnB w="9525">
                      <a:solidFill>
                        <a:srgbClr val="3B81F3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270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lang="en-US"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prediction accuracy and reduced overall energy use.</a:t>
                      </a:r>
                    </a:p>
                  </a:txBody>
                  <a:tcPr marL="0" marR="0" marT="54965" marB="0">
                    <a:lnL w="9525">
                      <a:solidFill>
                        <a:srgbClr val="3B81F3"/>
                      </a:solidFill>
                      <a:prstDash val="solid"/>
                    </a:lnL>
                    <a:lnR w="9525">
                      <a:solidFill>
                        <a:srgbClr val="3B81F3"/>
                      </a:solidFill>
                      <a:prstDash val="solid"/>
                    </a:lnR>
                    <a:lnT w="9525">
                      <a:solidFill>
                        <a:srgbClr val="3B81F3"/>
                      </a:solidFill>
                      <a:prstDash val="solid"/>
                    </a:lnT>
                    <a:lnB w="9525">
                      <a:solidFill>
                        <a:srgbClr val="3B81F3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>
            <a:extLst>
              <a:ext uri="{FF2B5EF4-FFF2-40B4-BE49-F238E27FC236}">
                <a16:creationId xmlns:a16="http://schemas.microsoft.com/office/drawing/2014/main" id="{428E4EE3-8642-8F90-6F5B-3F4A3E40A32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91" rIns="0" bIns="0" rtlCol="0">
            <a:spAutoFit/>
          </a:bodyPr>
          <a:lstStyle/>
          <a:p>
            <a:pPr marL="16913" defTabSz="1217706">
              <a:spcBef>
                <a:spcPts val="13"/>
              </a:spcBef>
            </a:pPr>
            <a:r>
              <a:rPr spc="-13" dirty="0"/>
              <a:t>7/15/2025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13E2F32-F283-2C9E-9105-4523717C2DA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58" defTabSz="1217706">
              <a:lnSpc>
                <a:spcPts val="1665"/>
              </a:lnSpc>
            </a:pPr>
            <a:r>
              <a:rPr dirty="0"/>
              <a:t>Department</a:t>
            </a:r>
            <a:r>
              <a:rPr spc="-7" dirty="0"/>
              <a:t> </a:t>
            </a:r>
            <a:r>
              <a:rPr dirty="0"/>
              <a:t>of</a:t>
            </a:r>
            <a:r>
              <a:rPr spc="-67" dirty="0"/>
              <a:t> </a:t>
            </a:r>
            <a:r>
              <a:rPr spc="-13" dirty="0"/>
              <a:t>Computer</a:t>
            </a:r>
            <a:r>
              <a:rPr spc="33" dirty="0"/>
              <a:t> </a:t>
            </a:r>
            <a:r>
              <a:rPr dirty="0"/>
              <a:t>Science</a:t>
            </a:r>
            <a:r>
              <a:rPr spc="-13" dirty="0"/>
              <a:t> Engineering,SSET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9D69C60E-CEBD-3F65-C207-5D363CC9832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5559383" y="8481590"/>
            <a:ext cx="409730" cy="323682"/>
          </a:xfrm>
          <a:prstGeom prst="rect">
            <a:avLst/>
          </a:prstGeom>
        </p:spPr>
        <p:txBody>
          <a:bodyPr vert="horz" wrap="square" lIns="0" tIns="117542" rIns="0" bIns="0" rtlCol="0">
            <a:spAutoFit/>
          </a:bodyPr>
          <a:lstStyle/>
          <a:p>
            <a:pPr marL="143757" defTabSz="1217706">
              <a:spcBef>
                <a:spcPts val="926"/>
              </a:spcBef>
            </a:pPr>
            <a:fld id="{81D60167-4931-47E6-BA6A-407CBD079E47}" type="slidenum">
              <a:rPr spc="-67" dirty="0"/>
              <a:pPr marL="143757" defTabSz="1217706">
                <a:spcBef>
                  <a:spcPts val="926"/>
                </a:spcBef>
              </a:pPr>
              <a:t>7</a:t>
            </a:fld>
            <a:endParaRPr spc="-67" dirty="0"/>
          </a:p>
        </p:txBody>
      </p:sp>
    </p:spTree>
    <p:extLst>
      <p:ext uri="{BB962C8B-B14F-4D97-AF65-F5344CB8AC3E}">
        <p14:creationId xmlns:p14="http://schemas.microsoft.com/office/powerpoint/2010/main" val="1810984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13A3F6A-D0C3-F1C3-ED7D-121D9E458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9D51DDD-8254-F549-6B87-75BADF2C7262}"/>
              </a:ext>
            </a:extLst>
          </p:cNvPr>
          <p:cNvSpPr txBox="1"/>
          <p:nvPr/>
        </p:nvSpPr>
        <p:spPr>
          <a:xfrm>
            <a:off x="3505200" y="31794"/>
            <a:ext cx="4724400" cy="184647"/>
          </a:xfrm>
          <a:prstGeom prst="rect">
            <a:avLst/>
          </a:prstGeom>
        </p:spPr>
        <p:txBody>
          <a:bodyPr vert="horz" wrap="square" lIns="0" tIns="1522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AI Driven IoT Framework for Energy Optimization in Ductless HVAC Systems </a:t>
            </a:r>
            <a:endParaRPr lang="en-US" sz="1100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D5E060F-F84D-A1C7-D90C-6DAA5D8176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0619" y="253450"/>
            <a:ext cx="6375995" cy="754843"/>
          </a:xfrm>
          <a:prstGeom prst="rect">
            <a:avLst/>
          </a:prstGeom>
        </p:spPr>
        <p:txBody>
          <a:bodyPr vert="horz" wrap="square" lIns="0" tIns="16912" rIns="0" bIns="0" rtlCol="0">
            <a:spAutoFit/>
          </a:bodyPr>
          <a:lstStyle/>
          <a:p>
            <a:pPr marL="16913">
              <a:spcBef>
                <a:spcPts val="133"/>
              </a:spcBef>
            </a:pPr>
            <a:r>
              <a:rPr dirty="0"/>
              <a:t>LITERATURE</a:t>
            </a:r>
            <a:r>
              <a:rPr spc="-7" dirty="0"/>
              <a:t> </a:t>
            </a:r>
            <a:r>
              <a:rPr spc="-13" dirty="0"/>
              <a:t>SURVEY</a:t>
            </a:r>
          </a:p>
        </p:txBody>
      </p:sp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D890358B-EF73-3608-3BF0-C6D3A96813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827839"/>
              </p:ext>
            </p:extLst>
          </p:nvPr>
        </p:nvGraphicFramePr>
        <p:xfrm>
          <a:off x="533399" y="1447800"/>
          <a:ext cx="11386112" cy="37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0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4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4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71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190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Sl.</a:t>
                      </a: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9892" marB="0">
                    <a:lnL w="9525">
                      <a:solidFill>
                        <a:srgbClr val="3B81F3"/>
                      </a:solidFill>
                      <a:prstDash val="solid"/>
                    </a:lnL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9892" marB="0"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1625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Author(s)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9892" marB="0"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703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Methodology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9892" marB="0"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568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Inference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9892" marB="0">
                    <a:lnR w="9525">
                      <a:solidFill>
                        <a:srgbClr val="3B81F3"/>
                      </a:solidFill>
                      <a:prstDash val="solid"/>
                    </a:lnR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713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5811" marB="0">
                    <a:lnL w="9525">
                      <a:solidFill>
                        <a:srgbClr val="3B81F3"/>
                      </a:solidFill>
                      <a:prstDash val="solid"/>
                    </a:lnL>
                    <a:lnR w="9525">
                      <a:solidFill>
                        <a:srgbClr val="3B81F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B81F3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Computing-Based Automated Fault Detection in HVAC Systems</a:t>
                      </a:r>
                    </a:p>
                  </a:txBody>
                  <a:tcPr anchor="ctr">
                    <a:lnL w="9525">
                      <a:solidFill>
                        <a:srgbClr val="3B81F3"/>
                      </a:solidFill>
                      <a:prstDash val="solid"/>
                    </a:lnL>
                    <a:lnR w="9525">
                      <a:solidFill>
                        <a:srgbClr val="3B81F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B81F3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a-DK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J. Chen et al., 2022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5811" marB="0">
                    <a:lnL w="9525">
                      <a:solidFill>
                        <a:srgbClr val="3B81F3"/>
                      </a:solidFill>
                      <a:prstDash val="solid"/>
                    </a:lnL>
                    <a:lnR w="9525">
                      <a:solidFill>
                        <a:srgbClr val="3B81F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 cap="flat" cmpd="sng" algn="ctr">
                      <a:solidFill>
                        <a:srgbClr val="3B8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2921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Designed ML-based fault detection systems for HVAC diagnosis.</a:t>
                      </a:r>
                    </a:p>
                  </a:txBody>
                  <a:tcPr marL="0" marR="0" marT="55811" marB="0">
                    <a:lnL w="9525">
                      <a:solidFill>
                        <a:srgbClr val="3B81F3"/>
                      </a:solidFill>
                      <a:prstDash val="solid"/>
                    </a:lnL>
                    <a:lnR w="9525">
                      <a:solidFill>
                        <a:srgbClr val="3B81F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 cap="flat" cmpd="sng" algn="ctr">
                      <a:solidFill>
                        <a:srgbClr val="3B8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6129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downtime and improved system reliability.</a:t>
                      </a:r>
                    </a:p>
                  </a:txBody>
                  <a:tcPr marL="0" marR="0" marT="55811" marB="0">
                    <a:lnL w="9525">
                      <a:solidFill>
                        <a:srgbClr val="3B81F3"/>
                      </a:solidFill>
                      <a:prstDash val="solid"/>
                    </a:lnL>
                    <a:lnR w="9525">
                      <a:solidFill>
                        <a:srgbClr val="3B81F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 cap="flat" cmpd="sng" algn="ctr">
                      <a:solidFill>
                        <a:srgbClr val="3B8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9340">
                <a:tc>
                  <a:txBody>
                    <a:bodyPr/>
                    <a:lstStyle/>
                    <a:p>
                      <a:pPr marL="9080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4965" marB="0">
                    <a:lnL w="9525">
                      <a:solidFill>
                        <a:srgbClr val="3B81F3"/>
                      </a:solidFill>
                      <a:prstDash val="solid"/>
                    </a:lnL>
                    <a:lnR w="9525">
                      <a:solidFill>
                        <a:srgbClr val="3B81F3"/>
                      </a:solidFill>
                      <a:prstDash val="solid"/>
                    </a:lnR>
                    <a:lnT w="9525" cap="flat" cmpd="sng" algn="ctr">
                      <a:solidFill>
                        <a:srgbClr val="3B8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B81F3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20014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Fault Detection and Energy Optimization in HVAC Systems using IoT and Machine Learning</a:t>
                      </a:r>
                    </a:p>
                    <a:p>
                      <a:pPr marL="91440" marR="12001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4965" marB="0">
                    <a:lnL w="9525">
                      <a:solidFill>
                        <a:srgbClr val="3B81F3"/>
                      </a:solidFill>
                      <a:prstDash val="solid"/>
                    </a:lnL>
                    <a:lnR w="9525" cap="flat" cmpd="sng" algn="ctr">
                      <a:solidFill>
                        <a:srgbClr val="3B8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8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B81F3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Rahbar, A. H. Rezaei, and M.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Khanzadi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2024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3274" marB="0">
                    <a:lnL w="9525">
                      <a:solidFill>
                        <a:srgbClr val="3B81F3"/>
                      </a:solidFill>
                      <a:prstDash val="solid"/>
                    </a:lnL>
                    <a:lnR w="9525">
                      <a:solidFill>
                        <a:srgbClr val="3B81F3"/>
                      </a:solidFill>
                      <a:prstDash val="solid"/>
                    </a:lnR>
                    <a:lnT w="9525" cap="flat" cmpd="sng" algn="ctr">
                      <a:solidFill>
                        <a:srgbClr val="3B8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B81F3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45212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Proposed an IoT-based HVAC monitoring system integrated with a machine learning model for fault detection and predictive energy control.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3274" marB="0">
                    <a:lnL w="9525">
                      <a:solidFill>
                        <a:srgbClr val="3B81F3"/>
                      </a:solidFill>
                      <a:prstDash val="solid"/>
                    </a:lnL>
                    <a:lnR w="9525">
                      <a:solidFill>
                        <a:srgbClr val="3B81F3"/>
                      </a:solidFill>
                      <a:prstDash val="solid"/>
                    </a:lnR>
                    <a:lnT w="9525" cap="flat" cmpd="sng" algn="ctr">
                      <a:solidFill>
                        <a:srgbClr val="3B8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B81F3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3911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Demonstrated improved energy efficiency and faster fault diagnosis compared to traditional systems.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3274" marB="0">
                    <a:lnL w="9525">
                      <a:solidFill>
                        <a:srgbClr val="3B81F3"/>
                      </a:solidFill>
                      <a:prstDash val="solid"/>
                    </a:lnL>
                    <a:lnR w="9525">
                      <a:solidFill>
                        <a:srgbClr val="3B81F3"/>
                      </a:solidFill>
                      <a:prstDash val="solid"/>
                    </a:lnR>
                    <a:lnT w="9525" cap="flat" cmpd="sng" algn="ctr">
                      <a:solidFill>
                        <a:srgbClr val="3B8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B81F3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>
            <a:extLst>
              <a:ext uri="{FF2B5EF4-FFF2-40B4-BE49-F238E27FC236}">
                <a16:creationId xmlns:a16="http://schemas.microsoft.com/office/drawing/2014/main" id="{428E4EE3-8642-8F90-6F5B-3F4A3E40A32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91" rIns="0" bIns="0" rtlCol="0">
            <a:spAutoFit/>
          </a:bodyPr>
          <a:lstStyle/>
          <a:p>
            <a:pPr marL="16913" defTabSz="1217706">
              <a:spcBef>
                <a:spcPts val="13"/>
              </a:spcBef>
            </a:pPr>
            <a:r>
              <a:rPr spc="-13" dirty="0"/>
              <a:t>7/15/2025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13E2F32-F283-2C9E-9105-4523717C2DA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58" defTabSz="1217706">
              <a:lnSpc>
                <a:spcPts val="1665"/>
              </a:lnSpc>
            </a:pPr>
            <a:r>
              <a:rPr dirty="0"/>
              <a:t>Department</a:t>
            </a:r>
            <a:r>
              <a:rPr spc="-7" dirty="0"/>
              <a:t> </a:t>
            </a:r>
            <a:r>
              <a:rPr dirty="0"/>
              <a:t>of</a:t>
            </a:r>
            <a:r>
              <a:rPr spc="-67" dirty="0"/>
              <a:t> </a:t>
            </a:r>
            <a:r>
              <a:rPr spc="-13" dirty="0"/>
              <a:t>Computer</a:t>
            </a:r>
            <a:r>
              <a:rPr spc="33" dirty="0"/>
              <a:t> </a:t>
            </a:r>
            <a:r>
              <a:rPr dirty="0"/>
              <a:t>Science</a:t>
            </a:r>
            <a:r>
              <a:rPr spc="-13" dirty="0"/>
              <a:t> Engineering,SSET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9D69C60E-CEBD-3F65-C207-5D363CC9832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5559383" y="8481590"/>
            <a:ext cx="409730" cy="323682"/>
          </a:xfrm>
          <a:prstGeom prst="rect">
            <a:avLst/>
          </a:prstGeom>
        </p:spPr>
        <p:txBody>
          <a:bodyPr vert="horz" wrap="square" lIns="0" tIns="117542" rIns="0" bIns="0" rtlCol="0">
            <a:spAutoFit/>
          </a:bodyPr>
          <a:lstStyle/>
          <a:p>
            <a:pPr marL="143757" defTabSz="1217706">
              <a:spcBef>
                <a:spcPts val="926"/>
              </a:spcBef>
            </a:pPr>
            <a:fld id="{81D60167-4931-47E6-BA6A-407CBD079E47}" type="slidenum">
              <a:rPr spc="-67" dirty="0"/>
              <a:pPr marL="143757" defTabSz="1217706">
                <a:spcBef>
                  <a:spcPts val="926"/>
                </a:spcBef>
              </a:pPr>
              <a:t>8</a:t>
            </a:fld>
            <a:endParaRPr spc="-67" dirty="0"/>
          </a:p>
        </p:txBody>
      </p:sp>
    </p:spTree>
    <p:extLst>
      <p:ext uri="{BB962C8B-B14F-4D97-AF65-F5344CB8AC3E}">
        <p14:creationId xmlns:p14="http://schemas.microsoft.com/office/powerpoint/2010/main" val="239861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63334" y="94652"/>
            <a:ext cx="7356263" cy="193216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AI Driven IoT Framework for Energy Optimization in Ductless HVAC Systems </a:t>
            </a:r>
            <a:endParaRPr lang="en-US" sz="12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28" y="136563"/>
            <a:ext cx="1253994" cy="114242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63122" y="300567"/>
            <a:ext cx="7056685" cy="562547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2698038">
              <a:spcBef>
                <a:spcPts val="67"/>
              </a:spcBef>
            </a:pPr>
            <a:r>
              <a:rPr spc="63" dirty="0"/>
              <a:t>METHODOLOGY</a:t>
            </a:r>
          </a:p>
        </p:txBody>
      </p:sp>
      <p:sp>
        <p:nvSpPr>
          <p:cNvPr id="9" name="object 9"/>
          <p:cNvSpPr/>
          <p:nvPr/>
        </p:nvSpPr>
        <p:spPr>
          <a:xfrm>
            <a:off x="7577682" y="4137778"/>
            <a:ext cx="6773" cy="19050"/>
          </a:xfrm>
          <a:custGeom>
            <a:avLst/>
            <a:gdLst/>
            <a:ahLst/>
            <a:cxnLst/>
            <a:rect l="l" t="t" r="r" b="b"/>
            <a:pathLst>
              <a:path w="10159" h="28575">
                <a:moveTo>
                  <a:pt x="9614" y="28574"/>
                </a:moveTo>
                <a:lnTo>
                  <a:pt x="0" y="28574"/>
                </a:lnTo>
                <a:lnTo>
                  <a:pt x="0" y="0"/>
                </a:lnTo>
                <a:lnTo>
                  <a:pt x="9614" y="0"/>
                </a:lnTo>
                <a:lnTo>
                  <a:pt x="9614" y="28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3810000" y="6270377"/>
            <a:ext cx="4038600" cy="218136"/>
          </a:xfrm>
          <a:prstGeom prst="rect">
            <a:avLst/>
          </a:prstGeom>
        </p:spPr>
        <p:txBody>
          <a:bodyPr vert="horz" wrap="square" lIns="0" tIns="63626" rIns="0" bIns="0" rtlCol="0">
            <a:spAutoFit/>
          </a:bodyPr>
          <a:lstStyle/>
          <a:p>
            <a:pPr marL="8467">
              <a:lnSpc>
                <a:spcPts val="1167"/>
              </a:lnSpc>
            </a:pPr>
            <a:r>
              <a:rPr dirty="0"/>
              <a:t>Department</a:t>
            </a:r>
            <a:r>
              <a:rPr spc="87" dirty="0"/>
              <a:t> </a:t>
            </a:r>
            <a:r>
              <a:rPr dirty="0"/>
              <a:t>of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dirty="0"/>
              <a:t>Science</a:t>
            </a:r>
            <a:r>
              <a:rPr spc="90" dirty="0"/>
              <a:t> </a:t>
            </a:r>
            <a:r>
              <a:rPr dirty="0"/>
              <a:t>and</a:t>
            </a:r>
            <a:r>
              <a:rPr spc="90" dirty="0"/>
              <a:t> </a:t>
            </a:r>
            <a:r>
              <a:rPr dirty="0"/>
              <a:t>Engineering,</a:t>
            </a:r>
            <a:r>
              <a:rPr spc="87" dirty="0"/>
              <a:t> </a:t>
            </a:r>
            <a:r>
              <a:rPr spc="93" dirty="0"/>
              <a:t>SSET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88">
              <a:lnSpc>
                <a:spcPts val="1167"/>
              </a:lnSpc>
            </a:pPr>
            <a:fld id="{81D60167-4931-47E6-BA6A-407CBD079E47}" type="slidenum">
              <a:rPr spc="-17" dirty="0"/>
              <a:pPr marL="28788">
                <a:lnSpc>
                  <a:spcPts val="1167"/>
                </a:lnSpc>
              </a:pPr>
              <a:t>9</a:t>
            </a:fld>
            <a:endParaRPr spc="-17"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290097" y="6306097"/>
            <a:ext cx="831056" cy="182416"/>
          </a:xfrm>
          <a:prstGeom prst="rect">
            <a:avLst/>
          </a:prstGeom>
        </p:spPr>
        <p:txBody>
          <a:bodyPr vert="horz" wrap="square" lIns="0" tIns="28252" rIns="0" bIns="0" rtlCol="0">
            <a:spAutoFit/>
          </a:bodyPr>
          <a:lstStyle/>
          <a:p>
            <a:pPr marL="8467">
              <a:lnSpc>
                <a:spcPts val="1167"/>
              </a:lnSpc>
            </a:pPr>
            <a:r>
              <a:rPr spc="-17" dirty="0"/>
              <a:t>23-10-</a:t>
            </a:r>
            <a:r>
              <a:rPr spc="-13" dirty="0"/>
              <a:t>2025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6A8C43ED-8D4F-CC2E-45FC-F4CE33A6E59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19527" y="1397674"/>
            <a:ext cx="944880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Data Acquisition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Sensors measure real-time temperature, voltage, and current from the HVAC system.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transmitted to Raspberry Pi for local processing.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Pre-Processing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Raw data filtered and normalized to eliminate sensor noise.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Anomaly Detection (NN-DBSCAN)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 clusters normal and abnormal patterns in power usage.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Detects deviations caused by faults or inefficiencies.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63334" y="32931"/>
            <a:ext cx="7356263" cy="193216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AI Driven IoT Framework for Energy Optimization in Ductless HVAC Systems </a:t>
            </a:r>
            <a:endParaRPr lang="en-US" sz="12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28" y="136563"/>
            <a:ext cx="1253994" cy="114242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34313" y="252984"/>
            <a:ext cx="3923453" cy="562547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pc="63" dirty="0"/>
              <a:t>METHODOLOGY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67" defTabSz="609630">
              <a:lnSpc>
                <a:spcPts val="1167"/>
              </a:lnSpc>
            </a:pPr>
            <a:r>
              <a:rPr dirty="0"/>
              <a:t>Department</a:t>
            </a:r>
            <a:r>
              <a:rPr spc="87" dirty="0"/>
              <a:t> </a:t>
            </a:r>
            <a:r>
              <a:rPr dirty="0"/>
              <a:t>of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dirty="0"/>
              <a:t>Science</a:t>
            </a:r>
            <a:r>
              <a:rPr spc="90" dirty="0"/>
              <a:t> </a:t>
            </a:r>
            <a:r>
              <a:rPr dirty="0"/>
              <a:t>and</a:t>
            </a:r>
            <a:r>
              <a:rPr spc="90" dirty="0"/>
              <a:t> </a:t>
            </a:r>
            <a:r>
              <a:rPr dirty="0"/>
              <a:t>Engineering,</a:t>
            </a:r>
            <a:r>
              <a:rPr spc="87" dirty="0"/>
              <a:t> </a:t>
            </a:r>
            <a:r>
              <a:rPr spc="93" dirty="0"/>
              <a:t>SSET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67" defTabSz="609630">
              <a:lnSpc>
                <a:spcPts val="1167"/>
              </a:lnSpc>
            </a:pPr>
            <a:r>
              <a:rPr spc="-17" dirty="0"/>
              <a:t>23-10-</a:t>
            </a:r>
            <a:r>
              <a:rPr spc="-13" dirty="0"/>
              <a:t>2025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389784" y="6427121"/>
            <a:ext cx="16636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67" defTabSz="609630">
              <a:lnSpc>
                <a:spcPts val="1167"/>
              </a:lnSpc>
            </a:pPr>
            <a:r>
              <a:rPr sz="1200" spc="-17" dirty="0">
                <a:solidFill>
                  <a:srgbClr val="878787"/>
                </a:solidFill>
                <a:latin typeface="Times New Roman"/>
                <a:cs typeface="Times New Roman"/>
              </a:rPr>
              <a:t>11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18D5EC-6074-3BD2-6128-9C5A2D17723C}"/>
              </a:ext>
            </a:extLst>
          </p:cNvPr>
          <p:cNvSpPr txBox="1"/>
          <p:nvPr/>
        </p:nvSpPr>
        <p:spPr>
          <a:xfrm>
            <a:off x="1787737" y="1600200"/>
            <a:ext cx="7356263" cy="3452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>
              <a:lnSpc>
                <a:spcPct val="200000"/>
              </a:lnSpc>
            </a:pPr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Optimization Logic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7715" lvl="1" indent="-342900" defTabSz="60963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detected anomalies to adjust system operation dynamically.</a:t>
            </a:r>
          </a:p>
          <a:p>
            <a:pPr marL="647715" lvl="1" indent="-342900" defTabSz="60963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minimal energy wastage and stable performance.</a:t>
            </a:r>
          </a:p>
          <a:p>
            <a:pPr defTabSz="609630">
              <a:lnSpc>
                <a:spcPct val="200000"/>
              </a:lnSpc>
            </a:pPr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Visualization &amp; Feedback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7715" lvl="1" indent="-342900" defTabSz="60963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results displayed on Blynk dashboard.</a:t>
            </a:r>
          </a:p>
          <a:p>
            <a:pPr marL="647715" lvl="1" indent="-342900" defTabSz="60963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continuously updates based on latest readings.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63334" y="94652"/>
            <a:ext cx="7356263" cy="193216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AI Driven IoT Framework for Energy Optimization in Ductless HVAC Systems </a:t>
            </a:r>
            <a:endParaRPr lang="en-US" sz="12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28" y="136563"/>
            <a:ext cx="1253994" cy="114242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04806" y="254823"/>
            <a:ext cx="5535506" cy="562547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pc="87" dirty="0"/>
              <a:t>MODULE</a:t>
            </a:r>
            <a:r>
              <a:rPr spc="-3" dirty="0"/>
              <a:t> </a:t>
            </a:r>
            <a:r>
              <a:rPr spc="50" dirty="0"/>
              <a:t>DESCRIPTION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21599" y="6537895"/>
            <a:ext cx="3652943" cy="193216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 defTabSz="609630">
              <a:spcBef>
                <a:spcPts val="67"/>
              </a:spcBef>
            </a:pPr>
            <a:r>
              <a:rPr sz="1200" i="1" dirty="0">
                <a:solidFill>
                  <a:srgbClr val="878787"/>
                </a:solidFill>
                <a:latin typeface="Times New Roman"/>
                <a:cs typeface="Times New Roman"/>
              </a:rPr>
              <a:t>Department</a:t>
            </a:r>
            <a:r>
              <a:rPr sz="1200" i="1" spc="87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sz="1200" i="1" spc="9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878787"/>
                </a:solidFill>
                <a:latin typeface="Times New Roman"/>
                <a:cs typeface="Times New Roman"/>
              </a:rPr>
              <a:t>Computer</a:t>
            </a:r>
            <a:r>
              <a:rPr sz="1200" i="1" spc="9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878787"/>
                </a:solidFill>
                <a:latin typeface="Times New Roman"/>
                <a:cs typeface="Times New Roman"/>
              </a:rPr>
              <a:t>Science</a:t>
            </a:r>
            <a:r>
              <a:rPr sz="1200" i="1" spc="9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878787"/>
                </a:solidFill>
                <a:latin typeface="Times New Roman"/>
                <a:cs typeface="Times New Roman"/>
              </a:rPr>
              <a:t>and</a:t>
            </a:r>
            <a:r>
              <a:rPr sz="1200" i="1" spc="9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878787"/>
                </a:solidFill>
                <a:latin typeface="Times New Roman"/>
                <a:cs typeface="Times New Roman"/>
              </a:rPr>
              <a:t>Engineering,</a:t>
            </a:r>
            <a:r>
              <a:rPr sz="1200" i="1" spc="87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i="1" spc="93" dirty="0">
                <a:solidFill>
                  <a:srgbClr val="878787"/>
                </a:solidFill>
                <a:latin typeface="Times New Roman"/>
                <a:cs typeface="Times New Roman"/>
              </a:rPr>
              <a:t>SSET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4679" y="3060158"/>
            <a:ext cx="63500" cy="634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4679" y="3434808"/>
            <a:ext cx="63500" cy="63499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8951985" y="3533233"/>
            <a:ext cx="7197" cy="19050"/>
          </a:xfrm>
          <a:custGeom>
            <a:avLst/>
            <a:gdLst/>
            <a:ahLst/>
            <a:cxnLst/>
            <a:rect l="l" t="t" r="r" b="b"/>
            <a:pathLst>
              <a:path w="10794" h="28575">
                <a:moveTo>
                  <a:pt x="10784" y="28574"/>
                </a:moveTo>
                <a:lnTo>
                  <a:pt x="0" y="28574"/>
                </a:lnTo>
                <a:lnTo>
                  <a:pt x="0" y="0"/>
                </a:lnTo>
                <a:lnTo>
                  <a:pt x="10784" y="0"/>
                </a:lnTo>
                <a:lnTo>
                  <a:pt x="10784" y="28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609630"/>
            <a:endParaRPr sz="1200"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4880" y="4761958"/>
            <a:ext cx="57150" cy="571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06338" y="1122978"/>
            <a:ext cx="9905577" cy="4199249"/>
          </a:xfrm>
          <a:prstGeom prst="rect">
            <a:avLst/>
          </a:prstGeom>
        </p:spPr>
        <p:txBody>
          <a:bodyPr vert="horz" wrap="square" lIns="0" tIns="98637" rIns="0" bIns="0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Sensor Integration &amp; Data Collection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voltage, current, and temperature sensors to Raspberry Pi.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and logs real-time data for analysis.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Data Preprocessing &amp; Filtering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noisy data and prepares it for anomaly detection.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clean datasets for training and testing.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Anomaly Detection using NN-DBSCAN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Clusters energy data and flags unusual usage patterns.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alerts via the dashboard.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115669" y="6408079"/>
            <a:ext cx="166369" cy="193216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 defTabSz="609630">
              <a:spcBef>
                <a:spcPts val="67"/>
              </a:spcBef>
            </a:pPr>
            <a:r>
              <a:rPr sz="1200" spc="-17" dirty="0">
                <a:solidFill>
                  <a:srgbClr val="878787"/>
                </a:solidFill>
                <a:latin typeface="Times New Roman"/>
                <a:cs typeface="Times New Roman"/>
              </a:rPr>
              <a:t>12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7916" y="6524157"/>
            <a:ext cx="716703" cy="193216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 defTabSz="609630">
              <a:spcBef>
                <a:spcPts val="67"/>
              </a:spcBef>
            </a:pPr>
            <a:r>
              <a:rPr sz="1200" spc="-17" dirty="0">
                <a:solidFill>
                  <a:srgbClr val="878787"/>
                </a:solidFill>
                <a:latin typeface="Times New Roman"/>
                <a:cs typeface="Times New Roman"/>
              </a:rPr>
              <a:t>23-10-</a:t>
            </a:r>
            <a:r>
              <a:rPr sz="1200" spc="-13" dirty="0">
                <a:solidFill>
                  <a:srgbClr val="878787"/>
                </a:solidFill>
                <a:latin typeface="Times New Roman"/>
                <a:cs typeface="Times New Roman"/>
              </a:rPr>
              <a:t>2025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63334" y="94652"/>
            <a:ext cx="7356263" cy="193216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AI Driven IoT Framework for Energy Optimization in Ductless HVAC Systems </a:t>
            </a:r>
            <a:endParaRPr lang="en-US" sz="12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28" y="136563"/>
            <a:ext cx="1253994" cy="114242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04806" y="254823"/>
            <a:ext cx="5535506" cy="562547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pc="87" dirty="0"/>
              <a:t>MODULE</a:t>
            </a:r>
            <a:r>
              <a:rPr spc="-3" dirty="0"/>
              <a:t> </a:t>
            </a:r>
            <a:r>
              <a:rPr spc="50" dirty="0"/>
              <a:t>DESCRIPTION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21599" y="6537895"/>
            <a:ext cx="3652943" cy="193216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 defTabSz="609630">
              <a:spcBef>
                <a:spcPts val="67"/>
              </a:spcBef>
            </a:pPr>
            <a:r>
              <a:rPr sz="1200" i="1" dirty="0">
                <a:solidFill>
                  <a:srgbClr val="878787"/>
                </a:solidFill>
                <a:latin typeface="Times New Roman"/>
                <a:cs typeface="Times New Roman"/>
              </a:rPr>
              <a:t>Department</a:t>
            </a:r>
            <a:r>
              <a:rPr sz="1200" i="1" spc="87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sz="1200" i="1" spc="9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878787"/>
                </a:solidFill>
                <a:latin typeface="Times New Roman"/>
                <a:cs typeface="Times New Roman"/>
              </a:rPr>
              <a:t>Computer</a:t>
            </a:r>
            <a:r>
              <a:rPr sz="1200" i="1" spc="9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878787"/>
                </a:solidFill>
                <a:latin typeface="Times New Roman"/>
                <a:cs typeface="Times New Roman"/>
              </a:rPr>
              <a:t>Science</a:t>
            </a:r>
            <a:r>
              <a:rPr sz="1200" i="1" spc="9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878787"/>
                </a:solidFill>
                <a:latin typeface="Times New Roman"/>
                <a:cs typeface="Times New Roman"/>
              </a:rPr>
              <a:t>and</a:t>
            </a:r>
            <a:r>
              <a:rPr sz="1200" i="1" spc="9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878787"/>
                </a:solidFill>
                <a:latin typeface="Times New Roman"/>
                <a:cs typeface="Times New Roman"/>
              </a:rPr>
              <a:t>Engineering,</a:t>
            </a:r>
            <a:r>
              <a:rPr sz="1200" i="1" spc="87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i="1" spc="93" dirty="0">
                <a:solidFill>
                  <a:srgbClr val="878787"/>
                </a:solidFill>
                <a:latin typeface="Times New Roman"/>
                <a:cs typeface="Times New Roman"/>
              </a:rPr>
              <a:t>SSET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4679" y="3060158"/>
            <a:ext cx="63500" cy="634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4679" y="3434808"/>
            <a:ext cx="63500" cy="63499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8951985" y="3533233"/>
            <a:ext cx="7197" cy="19050"/>
          </a:xfrm>
          <a:custGeom>
            <a:avLst/>
            <a:gdLst/>
            <a:ahLst/>
            <a:cxnLst/>
            <a:rect l="l" t="t" r="r" b="b"/>
            <a:pathLst>
              <a:path w="10794" h="28575">
                <a:moveTo>
                  <a:pt x="10784" y="28574"/>
                </a:moveTo>
                <a:lnTo>
                  <a:pt x="0" y="28574"/>
                </a:lnTo>
                <a:lnTo>
                  <a:pt x="0" y="0"/>
                </a:lnTo>
                <a:lnTo>
                  <a:pt x="10784" y="0"/>
                </a:lnTo>
                <a:lnTo>
                  <a:pt x="10784" y="28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609630"/>
            <a:endParaRPr sz="1200"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4880" y="4761958"/>
            <a:ext cx="57150" cy="571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88676" y="1757077"/>
            <a:ext cx="9905577" cy="2812587"/>
          </a:xfrm>
          <a:prstGeom prst="rect">
            <a:avLst/>
          </a:prstGeom>
        </p:spPr>
        <p:txBody>
          <a:bodyPr vert="horz" wrap="square" lIns="0" tIns="98637" rIns="0" bIns="0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Optimization and Control Logic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adaptive control strategies to minimize energy waste.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desired comfort levels automatically.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 – Dashboard &amp; User Interface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system data (temperature, voltage, current) in real time.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 monitoring and manual overrides through the Blynk app.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115669" y="6408079"/>
            <a:ext cx="166369" cy="193216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 defTabSz="609630">
              <a:spcBef>
                <a:spcPts val="67"/>
              </a:spcBef>
            </a:pPr>
            <a:r>
              <a:rPr sz="1200" spc="-17" dirty="0">
                <a:solidFill>
                  <a:srgbClr val="878787"/>
                </a:solidFill>
                <a:latin typeface="Times New Roman"/>
                <a:cs typeface="Times New Roman"/>
              </a:rPr>
              <a:t>12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7916" y="6524157"/>
            <a:ext cx="716703" cy="193216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 defTabSz="609630">
              <a:spcBef>
                <a:spcPts val="67"/>
              </a:spcBef>
            </a:pPr>
            <a:r>
              <a:rPr sz="1200" spc="-17" dirty="0">
                <a:solidFill>
                  <a:srgbClr val="878787"/>
                </a:solidFill>
                <a:latin typeface="Times New Roman"/>
                <a:cs typeface="Times New Roman"/>
              </a:rPr>
              <a:t>23-10-</a:t>
            </a:r>
            <a:r>
              <a:rPr sz="1200" spc="-13" dirty="0">
                <a:solidFill>
                  <a:srgbClr val="878787"/>
                </a:solidFill>
                <a:latin typeface="Times New Roman"/>
                <a:cs typeface="Times New Roman"/>
              </a:rPr>
              <a:t>2025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28" y="136563"/>
            <a:ext cx="1253994" cy="114242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852110" y="1777731"/>
            <a:ext cx="7197" cy="25400"/>
          </a:xfrm>
          <a:custGeom>
            <a:avLst/>
            <a:gdLst/>
            <a:ahLst/>
            <a:cxnLst/>
            <a:rect l="l" t="t" r="r" b="b"/>
            <a:pathLst>
              <a:path w="10795" h="38100">
                <a:moveTo>
                  <a:pt x="10760" y="38099"/>
                </a:moveTo>
                <a:lnTo>
                  <a:pt x="0" y="38099"/>
                </a:lnTo>
                <a:lnTo>
                  <a:pt x="0" y="0"/>
                </a:lnTo>
                <a:lnTo>
                  <a:pt x="10760" y="0"/>
                </a:lnTo>
                <a:lnTo>
                  <a:pt x="10760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609630"/>
            <a:endParaRPr sz="12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9738" y="2066656"/>
            <a:ext cx="57150" cy="571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29738" y="3279506"/>
            <a:ext cx="57150" cy="5714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344062" y="3612881"/>
            <a:ext cx="50800" cy="508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199" y="76199"/>
                </a:moveTo>
                <a:lnTo>
                  <a:pt x="0" y="76199"/>
                </a:lnTo>
                <a:lnTo>
                  <a:pt x="0" y="0"/>
                </a:lnTo>
                <a:lnTo>
                  <a:pt x="76199" y="0"/>
                </a:lnTo>
                <a:lnTo>
                  <a:pt x="76199" y="7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609630"/>
            <a:endParaRPr sz="120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29738" y="3971656"/>
            <a:ext cx="57150" cy="571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29738" y="5184506"/>
            <a:ext cx="57150" cy="571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29738" y="5514706"/>
            <a:ext cx="57150" cy="571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770445" y="1377460"/>
            <a:ext cx="8550487" cy="4234301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done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5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primary language.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used: NumPy, Pandas, Scikit-learn, Matplotlib, Blynk Library,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RPi.GPIO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connected via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ADS1115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analog-to-digital converter.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established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Wi-Fi (MQTT protocol)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NN-DBSCAN model implemented and trained on collected data samples.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visualization achieved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Blynk Dashboard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results stored and analyzed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pattern verification and model tuning.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088792" y="6509989"/>
            <a:ext cx="16636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67" defTabSz="609630">
              <a:lnSpc>
                <a:spcPts val="1167"/>
              </a:lnSpc>
            </a:pPr>
            <a:r>
              <a:rPr sz="1200" spc="-17" dirty="0">
                <a:solidFill>
                  <a:srgbClr val="878787"/>
                </a:solidFill>
                <a:latin typeface="Times New Roman"/>
                <a:cs typeface="Times New Roman"/>
              </a:rPr>
              <a:t>14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425366" y="6365341"/>
            <a:ext cx="907256" cy="293664"/>
          </a:xfrm>
          <a:prstGeom prst="rect">
            <a:avLst/>
          </a:prstGeom>
        </p:spPr>
        <p:txBody>
          <a:bodyPr vert="horz" wrap="square" lIns="0" tIns="138424" rIns="0" bIns="0" rtlCol="0">
            <a:spAutoFit/>
          </a:bodyPr>
          <a:lstStyle/>
          <a:p>
            <a:pPr marL="8467" defTabSz="609630">
              <a:lnSpc>
                <a:spcPts val="1167"/>
              </a:lnSpc>
            </a:pPr>
            <a:r>
              <a:rPr spc="-17" dirty="0"/>
              <a:t>23-10-</a:t>
            </a:r>
            <a:r>
              <a:rPr spc="-13" dirty="0"/>
              <a:t>2025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259499" y="6582061"/>
            <a:ext cx="365294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67" defTabSz="609630">
              <a:lnSpc>
                <a:spcPts val="1167"/>
              </a:lnSpc>
            </a:pPr>
            <a:r>
              <a:rPr sz="1200" i="1" dirty="0">
                <a:solidFill>
                  <a:srgbClr val="878787"/>
                </a:solidFill>
                <a:latin typeface="Times New Roman"/>
                <a:cs typeface="Times New Roman"/>
              </a:rPr>
              <a:t>Department</a:t>
            </a:r>
            <a:r>
              <a:rPr sz="1200" i="1" spc="87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878787"/>
                </a:solidFill>
                <a:latin typeface="Times New Roman"/>
                <a:cs typeface="Times New Roman"/>
              </a:rPr>
              <a:t>of</a:t>
            </a:r>
            <a:r>
              <a:rPr sz="1200" i="1" spc="9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878787"/>
                </a:solidFill>
                <a:latin typeface="Times New Roman"/>
                <a:cs typeface="Times New Roman"/>
              </a:rPr>
              <a:t>Computer</a:t>
            </a:r>
            <a:r>
              <a:rPr sz="1200" i="1" spc="9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878787"/>
                </a:solidFill>
                <a:latin typeface="Times New Roman"/>
                <a:cs typeface="Times New Roman"/>
              </a:rPr>
              <a:t>Science</a:t>
            </a:r>
            <a:r>
              <a:rPr sz="1200" i="1" spc="9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878787"/>
                </a:solidFill>
                <a:latin typeface="Times New Roman"/>
                <a:cs typeface="Times New Roman"/>
              </a:rPr>
              <a:t>and</a:t>
            </a:r>
            <a:r>
              <a:rPr sz="1200" i="1" spc="9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878787"/>
                </a:solidFill>
                <a:latin typeface="Times New Roman"/>
                <a:cs typeface="Times New Roman"/>
              </a:rPr>
              <a:t>Engineering,</a:t>
            </a:r>
            <a:r>
              <a:rPr sz="1200" i="1" spc="87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1200" i="1" spc="93" dirty="0">
                <a:solidFill>
                  <a:srgbClr val="878787"/>
                </a:solidFill>
                <a:latin typeface="Times New Roman"/>
                <a:cs typeface="Times New Roman"/>
              </a:rPr>
              <a:t>SSET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185443" y="366106"/>
            <a:ext cx="6650143" cy="562547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pc="50" dirty="0"/>
              <a:t>IMPLEMENTATION</a:t>
            </a:r>
            <a:r>
              <a:rPr spc="17" dirty="0"/>
              <a:t> </a:t>
            </a:r>
            <a:r>
              <a:rPr spc="23" dirty="0"/>
              <a:t>DETAILS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56984" y="94652"/>
            <a:ext cx="7356263" cy="193216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AI Driven IoT Framework for Energy Optimization in Ductless HVAC Systems </a:t>
            </a:r>
            <a:endParaRPr lang="en-US"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75585" y="27813"/>
            <a:ext cx="66408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AI Driven IoT Framework for Energy Optimization in Ductless HVAC Systems </a:t>
            </a: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28" y="136563"/>
            <a:ext cx="1254988" cy="114245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8627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20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05-10-2025</a:t>
            </a:r>
            <a:endParaRPr spc="-2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40" dirty="0"/>
              <a:t> </a:t>
            </a:r>
            <a:r>
              <a:rPr dirty="0"/>
              <a:t>Science and</a:t>
            </a:r>
            <a:r>
              <a:rPr spc="-40" dirty="0"/>
              <a:t> </a:t>
            </a:r>
            <a:r>
              <a:rPr dirty="0"/>
              <a:t>Engineering,</a:t>
            </a:r>
            <a:r>
              <a:rPr spc="-30" dirty="0"/>
              <a:t> </a:t>
            </a:r>
            <a:r>
              <a:rPr spc="-20" dirty="0"/>
              <a:t>SSET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6935B8-C38D-8287-29F7-38A1F2E3F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106673"/>
            <a:ext cx="4980916" cy="50269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03338E-5BF8-A5F2-6D16-E701B5E7BF26}"/>
              </a:ext>
            </a:extLst>
          </p:cNvPr>
          <p:cNvSpPr txBox="1"/>
          <p:nvPr/>
        </p:nvSpPr>
        <p:spPr>
          <a:xfrm>
            <a:off x="8943931" y="2099640"/>
            <a:ext cx="236922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SBC used: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Raspberry pi-5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Algorithm: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NN-DBSCAN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Language: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Python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used: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BLYNK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D170B6-7188-05D7-AA5A-06458F6CC9F6}"/>
              </a:ext>
            </a:extLst>
          </p:cNvPr>
          <p:cNvSpPr txBox="1"/>
          <p:nvPr/>
        </p:nvSpPr>
        <p:spPr>
          <a:xfrm>
            <a:off x="547042" y="2329697"/>
            <a:ext cx="2652743" cy="3202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Sensor: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SCT-013-030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Sensor: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ZMPT101B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Sensor: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Waveshare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O44 T22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ADC used: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ADS 1115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75585" y="27813"/>
            <a:ext cx="66408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AI Driven IoT Framework for Energy Optimization in Ductless HVAC Systems </a:t>
            </a:r>
            <a:endParaRPr lang="en-US" sz="12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28" y="136563"/>
            <a:ext cx="1254988" cy="114245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8627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PROGRESS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05-10-2025</a:t>
            </a: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40" dirty="0"/>
              <a:t> </a:t>
            </a:r>
            <a:r>
              <a:rPr dirty="0"/>
              <a:t>Science and</a:t>
            </a:r>
            <a:r>
              <a:rPr spc="-40" dirty="0"/>
              <a:t> </a:t>
            </a:r>
            <a:r>
              <a:rPr dirty="0"/>
              <a:t>Engineering,</a:t>
            </a:r>
            <a:r>
              <a:rPr spc="-30" dirty="0"/>
              <a:t> </a:t>
            </a:r>
            <a:r>
              <a:rPr spc="-20" dirty="0"/>
              <a:t>SSET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16939" y="2590800"/>
            <a:ext cx="7922261" cy="186121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Integrated temperature, voltage, and current sensors with Raspberry Pi.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pipeline configured for real-time collection.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ready for testing and model training phase.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 to be logged and analyzed in Excel for initial results.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75585" y="27813"/>
            <a:ext cx="66408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AI Driven IoT Framework for Energy Optimization in Ductless HVAC Systems </a:t>
            </a:r>
            <a:endParaRPr lang="en-US" sz="12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28" y="136563"/>
            <a:ext cx="1254988" cy="114245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33473" y="442340"/>
            <a:ext cx="6438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35" dirty="0">
                <a:latin typeface="Times New Roman"/>
                <a:cs typeface="Times New Roman"/>
              </a:rPr>
              <a:t>ROADMAP</a:t>
            </a:r>
            <a:r>
              <a:rPr sz="3600" b="1" spc="-200" dirty="0">
                <a:latin typeface="Times New Roman"/>
                <a:cs typeface="Times New Roman"/>
              </a:rPr>
              <a:t> </a:t>
            </a:r>
            <a:r>
              <a:rPr sz="3600" b="1" spc="-25" dirty="0">
                <a:latin typeface="Times New Roman"/>
                <a:cs typeface="Times New Roman"/>
              </a:rPr>
              <a:t>OF</a:t>
            </a:r>
            <a:r>
              <a:rPr sz="3600" b="1" spc="-19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THE</a:t>
            </a:r>
            <a:r>
              <a:rPr sz="3600" b="1" spc="1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PROJECT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05-10-2025</a:t>
            </a:r>
            <a:endParaRPr spc="-2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40" dirty="0"/>
              <a:t> </a:t>
            </a:r>
            <a:r>
              <a:rPr dirty="0"/>
              <a:t>Science and</a:t>
            </a:r>
            <a:r>
              <a:rPr spc="-40" dirty="0"/>
              <a:t> </a:t>
            </a:r>
            <a:r>
              <a:rPr dirty="0"/>
              <a:t>Engineering,</a:t>
            </a:r>
            <a:r>
              <a:rPr spc="-30" dirty="0"/>
              <a:t> </a:t>
            </a:r>
            <a:r>
              <a:rPr spc="-20" dirty="0"/>
              <a:t>SSET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78739" y="-155956"/>
            <a:ext cx="8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665368"/>
              </p:ext>
            </p:extLst>
          </p:nvPr>
        </p:nvGraphicFramePr>
        <p:xfrm>
          <a:off x="831850" y="1322832"/>
          <a:ext cx="10516223" cy="5036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0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856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  <a:r>
                        <a:rPr sz="1600" spc="-7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01-08-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3208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05-08-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21285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12-08-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2192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01-09-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21285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15-09-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2192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15-10-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2192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30-</a:t>
                      </a:r>
                      <a:r>
                        <a:rPr sz="12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11-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2192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01-12-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2192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15-01-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2192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31-01-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2192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28-02-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2192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01-03-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2192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17-03-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2192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5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</a:t>
                      </a:r>
                      <a:r>
                        <a:rPr sz="15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Proposal</a:t>
                      </a:r>
                      <a:r>
                        <a:rPr sz="15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</a:t>
                      </a: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sz="15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submission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5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5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 Finalization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1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Architecture Design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5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81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Integration &amp; Initial Testing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81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5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Calibration &amp; Data Validation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5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Collection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5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Training &amp; NN-DBSCAN Implementation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5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 Analysis &amp; Optimization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5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 &amp; Dashboard Integration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5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</a:t>
                      </a:r>
                      <a:r>
                        <a:rPr sz="15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Presentation,</a:t>
                      </a:r>
                      <a:r>
                        <a:rPr sz="15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</a:t>
                      </a:r>
                      <a:r>
                        <a:rPr sz="15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 &amp;</a:t>
                      </a:r>
                      <a:r>
                        <a:rPr sz="15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</a:t>
                      </a:r>
                      <a:r>
                        <a:rPr sz="15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</a:t>
                      </a:r>
                      <a:r>
                        <a:rPr sz="15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submission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75585" y="27813"/>
            <a:ext cx="66408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AI Driven IoT Framework for Energy Optimization in Ductless HVAC Systems </a:t>
            </a:r>
            <a:endParaRPr lang="en-US" sz="12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28" y="136563"/>
            <a:ext cx="1254988" cy="114245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33473" y="442340"/>
            <a:ext cx="6438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35" dirty="0">
                <a:latin typeface="Times New Roman"/>
                <a:cs typeface="Times New Roman"/>
              </a:rPr>
              <a:t>ROADMAP</a:t>
            </a:r>
            <a:r>
              <a:rPr sz="3600" b="1" spc="-200" dirty="0">
                <a:latin typeface="Times New Roman"/>
                <a:cs typeface="Times New Roman"/>
              </a:rPr>
              <a:t> </a:t>
            </a:r>
            <a:r>
              <a:rPr sz="3600" b="1" spc="-25" dirty="0">
                <a:latin typeface="Times New Roman"/>
                <a:cs typeface="Times New Roman"/>
              </a:rPr>
              <a:t>OF</a:t>
            </a:r>
            <a:r>
              <a:rPr sz="3600" b="1" spc="-19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THE</a:t>
            </a:r>
            <a:r>
              <a:rPr sz="3600" b="1" spc="1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PROJECT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05-10-2025</a:t>
            </a:r>
            <a:endParaRPr spc="-2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40" dirty="0"/>
              <a:t> </a:t>
            </a:r>
            <a:r>
              <a:rPr dirty="0"/>
              <a:t>Science and</a:t>
            </a:r>
            <a:r>
              <a:rPr spc="-40" dirty="0"/>
              <a:t> </a:t>
            </a:r>
            <a:r>
              <a:rPr dirty="0"/>
              <a:t>Engineering,</a:t>
            </a:r>
            <a:r>
              <a:rPr spc="-30" dirty="0"/>
              <a:t> </a:t>
            </a:r>
            <a:r>
              <a:rPr spc="-20" dirty="0"/>
              <a:t>SSET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78739" y="-155956"/>
            <a:ext cx="8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168168"/>
              </p:ext>
            </p:extLst>
          </p:nvPr>
        </p:nvGraphicFramePr>
        <p:xfrm>
          <a:off x="831850" y="1322832"/>
          <a:ext cx="10516223" cy="5036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0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7655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856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16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01-08-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208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05-08-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1285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12-08-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192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01-09-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1285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15-09-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192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15-10-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192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30-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11-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192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01-12-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192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15-01-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2026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192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31-01-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2026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192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28-02-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2026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192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01-03-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2026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192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17-03-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2026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192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</a:t>
                      </a:r>
                      <a:r>
                        <a:rPr sz="15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Proposal</a:t>
                      </a:r>
                      <a:r>
                        <a:rPr sz="15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</a:t>
                      </a: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sz="15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submission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 Finalization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1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Architecture Design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181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Integration &amp; Initial Testing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81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solidFill>
                          <a:srgbClr val="92D05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solidFill>
                          <a:srgbClr val="92D05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solidFill>
                          <a:srgbClr val="92D05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Calibration &amp; Data Validation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solidFill>
                          <a:srgbClr val="92D05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solidFill>
                          <a:srgbClr val="92D05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Collection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4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Training &amp; NN-DBSCAN Implementation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 Analysis &amp; Optimization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 &amp; Dashboard Integration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11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</a:t>
                      </a:r>
                      <a:r>
                        <a:rPr sz="15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Presentation,</a:t>
                      </a:r>
                      <a:r>
                        <a:rPr sz="15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</a:t>
                      </a:r>
                      <a:r>
                        <a:rPr sz="15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 &amp;</a:t>
                      </a:r>
                      <a:r>
                        <a:rPr sz="15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</a:t>
                      </a:r>
                      <a:r>
                        <a:rPr sz="15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</a:t>
                      </a:r>
                      <a:r>
                        <a:rPr sz="15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5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submission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75585" y="27813"/>
            <a:ext cx="66408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AI Driven IoT Framework for Energy Optimization in Ductless HVAC Systems </a:t>
            </a:r>
            <a:endParaRPr lang="en-US" sz="12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28" y="136563"/>
            <a:ext cx="1254988" cy="114245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8627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SCREENSHOTS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05-10-2025</a:t>
            </a:r>
            <a:endParaRPr spc="-2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40" dirty="0"/>
              <a:t> </a:t>
            </a:r>
            <a:r>
              <a:rPr dirty="0"/>
              <a:t>Science and</a:t>
            </a:r>
            <a:r>
              <a:rPr spc="-40" dirty="0"/>
              <a:t> </a:t>
            </a:r>
            <a:r>
              <a:rPr dirty="0"/>
              <a:t>Engineering,</a:t>
            </a:r>
            <a:r>
              <a:rPr spc="-30" dirty="0"/>
              <a:t> </a:t>
            </a:r>
            <a:r>
              <a:rPr spc="-20" dirty="0"/>
              <a:t>SSET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7D9589-9F9F-A39F-481C-1B79AD8E15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89621" y="1824726"/>
            <a:ext cx="5105399" cy="411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78F87B-B2F6-D375-8523-9B49241469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030" y="1329426"/>
            <a:ext cx="3838709" cy="511827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75585" y="27813"/>
            <a:ext cx="66408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AI Driven IoT Framework for Energy Optimization in Ductless HVAC Systems </a:t>
            </a:r>
            <a:endParaRPr lang="en-US" sz="12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28" y="136563"/>
            <a:ext cx="1254988" cy="114245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88736" y="-11764"/>
            <a:ext cx="9790556" cy="819150"/>
          </a:xfrm>
          <a:prstGeom prst="rect">
            <a:avLst/>
          </a:prstGeom>
        </p:spPr>
        <p:txBody>
          <a:bodyPr vert="horz" wrap="square" lIns="0" tIns="198627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SCREENSHOTS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05-10-2025</a:t>
            </a:r>
            <a:endParaRPr spc="-2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40" dirty="0"/>
              <a:t> </a:t>
            </a:r>
            <a:r>
              <a:rPr dirty="0"/>
              <a:t>Science and</a:t>
            </a:r>
            <a:r>
              <a:rPr spc="-40" dirty="0"/>
              <a:t> </a:t>
            </a:r>
            <a:r>
              <a:rPr dirty="0"/>
              <a:t>Engineering,</a:t>
            </a:r>
            <a:r>
              <a:rPr spc="-30" dirty="0"/>
              <a:t> </a:t>
            </a:r>
            <a:r>
              <a:rPr spc="-20" dirty="0"/>
              <a:t>SSET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43A147-0D12-494B-E0C6-5B000C1B0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699" y="827624"/>
            <a:ext cx="9903459" cy="5620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75585" y="27813"/>
            <a:ext cx="66408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AI Driven IoT Framework for Energy Optimization in Ductless HVAC Systems 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22603" y="49723"/>
            <a:ext cx="9790556" cy="819150"/>
          </a:xfrm>
          <a:prstGeom prst="rect">
            <a:avLst/>
          </a:prstGeom>
        </p:spPr>
        <p:txBody>
          <a:bodyPr vert="horz" wrap="square" lIns="0" tIns="198627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SCREENSHOTS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878841" y="6610038"/>
            <a:ext cx="735964" cy="198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/>
              <a:t>05-10-2025</a:t>
            </a:r>
            <a:endParaRPr spc="-2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4191000" y="6642649"/>
            <a:ext cx="3531870" cy="198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40" dirty="0"/>
              <a:t> </a:t>
            </a:r>
            <a:r>
              <a:rPr dirty="0"/>
              <a:t>Science and</a:t>
            </a:r>
            <a:r>
              <a:rPr spc="-40" dirty="0"/>
              <a:t> </a:t>
            </a:r>
            <a:r>
              <a:rPr dirty="0"/>
              <a:t>Engineering,</a:t>
            </a:r>
            <a:r>
              <a:rPr spc="-30" dirty="0"/>
              <a:t> </a:t>
            </a:r>
            <a:r>
              <a:rPr spc="-20" dirty="0"/>
              <a:t>SSET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pic>
        <p:nvPicPr>
          <p:cNvPr id="10" name="object 4">
            <a:extLst>
              <a:ext uri="{FF2B5EF4-FFF2-40B4-BE49-F238E27FC236}">
                <a16:creationId xmlns:a16="http://schemas.microsoft.com/office/drawing/2014/main" id="{0D5F5D83-5A67-28C3-338A-8B8E587B080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54988" cy="11424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3504FC-D20A-4EB8-7D18-7C0C2D3ACF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896" y="868873"/>
            <a:ext cx="10633716" cy="57737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9D5BB-F082-3D00-C670-B533A1B60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485" y="256413"/>
            <a:ext cx="9790556" cy="553998"/>
          </a:xfrm>
        </p:spPr>
        <p:txBody>
          <a:bodyPr/>
          <a:lstStyle/>
          <a:p>
            <a:r>
              <a:rPr lang="en-IN" spc="-10" dirty="0"/>
              <a:t>SCREENSHOTS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D8CBD8-39E2-222B-D304-3E56CC9CF9D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330064" y="6601587"/>
            <a:ext cx="3531870" cy="198239"/>
          </a:xfrm>
        </p:spPr>
        <p:txBody>
          <a:bodyPr/>
          <a:lstStyle/>
          <a:p>
            <a:pPr marL="12700">
              <a:lnSpc>
                <a:spcPts val="1410"/>
              </a:lnSpc>
            </a:pPr>
            <a:r>
              <a:rPr lang="en-US" dirty="0"/>
              <a:t>Department</a:t>
            </a:r>
            <a:r>
              <a:rPr lang="en-US" spc="-25" dirty="0"/>
              <a:t> </a:t>
            </a:r>
            <a:r>
              <a:rPr lang="en-US" dirty="0"/>
              <a:t>of</a:t>
            </a:r>
            <a:r>
              <a:rPr lang="en-US" spc="-35" dirty="0"/>
              <a:t> </a:t>
            </a:r>
            <a:r>
              <a:rPr lang="en-US" dirty="0"/>
              <a:t>Computer</a:t>
            </a:r>
            <a:r>
              <a:rPr lang="en-US" spc="-40" dirty="0"/>
              <a:t> </a:t>
            </a:r>
            <a:r>
              <a:rPr lang="en-US" dirty="0"/>
              <a:t>Science</a:t>
            </a:r>
            <a:r>
              <a:rPr lang="en-US" spc="5" dirty="0"/>
              <a:t> </a:t>
            </a:r>
            <a:r>
              <a:rPr lang="en-US" dirty="0"/>
              <a:t>and</a:t>
            </a:r>
            <a:r>
              <a:rPr lang="en-US" spc="-35" dirty="0"/>
              <a:t> </a:t>
            </a:r>
            <a:r>
              <a:rPr lang="en-US" dirty="0"/>
              <a:t>Engineering,</a:t>
            </a:r>
            <a:r>
              <a:rPr lang="en-US" spc="-25" dirty="0"/>
              <a:t> </a:t>
            </a:r>
            <a:r>
              <a:rPr lang="en-US" spc="-20" dirty="0"/>
              <a:t>SSET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6DD8A-614D-0E69-5634-96A8CB3824FB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887006" y="6642271"/>
            <a:ext cx="735964" cy="198239"/>
          </a:xfrm>
        </p:spPr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 dirty="0"/>
              <a:t>05-10-2025</a:t>
            </a:r>
            <a:endParaRPr lang="en-US" spc="-2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838FB-DCB6-ADAD-B651-17951344FA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lang="en-IN" spc="-25" smtClean="0"/>
              <a:t>21</a:t>
            </a:fld>
            <a:endParaRPr lang="en-IN" spc="-25" dirty="0"/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90967399-6D33-67F4-ADBF-3C49808805E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54988" cy="11424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3FC40C-6E2C-8F24-93D1-797BC0F069EB}"/>
              </a:ext>
            </a:extLst>
          </p:cNvPr>
          <p:cNvSpPr txBox="1"/>
          <p:nvPr/>
        </p:nvSpPr>
        <p:spPr>
          <a:xfrm>
            <a:off x="2324636" y="-30051"/>
            <a:ext cx="75427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AI Driven IoT Framework for Energy Optimization in Ductless HVAC Systems </a:t>
            </a:r>
            <a:endParaRPr lang="en-US" sz="1200" dirty="0">
              <a:latin typeface="Times New Roman"/>
              <a:cs typeface="Times New Roman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2D0072-3CF4-4D8A-71F6-176ED51D4E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055" y="740729"/>
            <a:ext cx="103632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9778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75585" y="27813"/>
            <a:ext cx="66408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i="1" spc="-10" dirty="0">
                <a:solidFill>
                  <a:srgbClr val="888888"/>
                </a:solidFill>
                <a:latin typeface="Times New Roman"/>
                <a:cs typeface="Times New Roman"/>
              </a:rPr>
              <a:t>AI Driven IoT Framework for Energy Optimization in Ductless HVAC Systems </a:t>
            </a:r>
            <a:endParaRPr lang="en-US" sz="12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28" y="136563"/>
            <a:ext cx="1254988" cy="114245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8627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/>
              <a:t>05-10-2025</a:t>
            </a: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40" dirty="0"/>
              <a:t> </a:t>
            </a:r>
            <a:r>
              <a:rPr dirty="0"/>
              <a:t>Science and</a:t>
            </a:r>
            <a:r>
              <a:rPr spc="-40" dirty="0"/>
              <a:t> </a:t>
            </a:r>
            <a:r>
              <a:rPr dirty="0"/>
              <a:t>Engineering,</a:t>
            </a:r>
            <a:r>
              <a:rPr spc="-30" dirty="0"/>
              <a:t> </a:t>
            </a:r>
            <a:r>
              <a:rPr spc="-20" dirty="0"/>
              <a:t>SSET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16939" y="1154404"/>
            <a:ext cx="10360660" cy="4834657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[1] S. A. Aghili, A. H. M. Rezaei, M. </a:t>
            </a:r>
            <a:r>
              <a:rPr lang="en-US" sz="2000" dirty="0" err="1">
                <a:latin typeface="Times New Roman"/>
                <a:cs typeface="Times New Roman"/>
              </a:rPr>
              <a:t>Tafazzoli</a:t>
            </a:r>
            <a:r>
              <a:rPr lang="en-US" sz="2000" dirty="0">
                <a:latin typeface="Times New Roman"/>
                <a:cs typeface="Times New Roman"/>
              </a:rPr>
              <a:t>, M. </a:t>
            </a:r>
            <a:r>
              <a:rPr lang="en-US" sz="2000" dirty="0" err="1">
                <a:latin typeface="Times New Roman"/>
                <a:cs typeface="Times New Roman"/>
              </a:rPr>
              <a:t>Khanzadi</a:t>
            </a:r>
            <a:r>
              <a:rPr lang="en-US" sz="2000" dirty="0">
                <a:latin typeface="Times New Roman"/>
                <a:cs typeface="Times New Roman"/>
              </a:rPr>
              <a:t>, and M. Rahbar, “Artificial intelligence approaches to energy management in HVAC systems: A systematic review,” Buildings, vol. 15, p. 1008, 2025.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[2] X. Lin, Q. Guo, D. Yuan, and M. Gao, “Bayesian optimization framework for HVAC system control,” Buildings, vol. 13, p. 314, 2023.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[3] H.-P. Ni, W. O. Chong, and J.-S. Chou, “Optimizing HVAC systems for semiconductor fabrication: A data-intensive framework for energy efficiency and sustainability,” Journal of Building Engineering, 2024.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[4] J. Runge and R. </a:t>
            </a:r>
            <a:r>
              <a:rPr lang="en-US" sz="2000" dirty="0" err="1">
                <a:latin typeface="Times New Roman"/>
                <a:cs typeface="Times New Roman"/>
              </a:rPr>
              <a:t>Zmeureanu</a:t>
            </a:r>
            <a:r>
              <a:rPr lang="en-US" sz="2000" dirty="0">
                <a:latin typeface="Times New Roman"/>
                <a:cs typeface="Times New Roman"/>
              </a:rPr>
              <a:t>, “Deep learning forecasting for electric demand applications of cooling systems in buildings,” Advanced Engineering Informatics, 2022.</a:t>
            </a:r>
          </a:p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[5] J. Chen, L. Zhang, Y. Li, Y. Shi, X. Gao, and Y. Hu, “A review of computing-based automated fault detection and diagnosis of heating, ventilation and air conditioning systems,” Renewable and Sustainable Energy Reviews, vol. 161, 2022.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6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541</TotalTime>
  <Words>1938</Words>
  <Application>Microsoft Office PowerPoint</Application>
  <PresentationFormat>Widescreen</PresentationFormat>
  <Paragraphs>338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Arial MT</vt:lpstr>
      <vt:lpstr>Calibri</vt:lpstr>
      <vt:lpstr>Symbol</vt:lpstr>
      <vt:lpstr>Times New Roman</vt:lpstr>
      <vt:lpstr>Office Theme</vt:lpstr>
      <vt:lpstr>1_Office Theme</vt:lpstr>
      <vt:lpstr>2_Office Theme</vt:lpstr>
      <vt:lpstr>SCMS SCHOOL OF ENGINEERING AND TECHNOLOGY DEPARTMENT OF COMPUTER SCIENCE AND ENGINEERING</vt:lpstr>
      <vt:lpstr>CONTENTS</vt:lpstr>
      <vt:lpstr>INTRODUCTION</vt:lpstr>
      <vt:lpstr>OBJECTIVE OF THE PROJECT</vt:lpstr>
      <vt:lpstr>MOTIVATION OF THE PROJECT</vt:lpstr>
      <vt:lpstr>CHALLENGES AND CONSIDERATIONS</vt:lpstr>
      <vt:lpstr>LITERATURE SURVEY</vt:lpstr>
      <vt:lpstr>LITERATURE SURVEY</vt:lpstr>
      <vt:lpstr>METHODOLOGY</vt:lpstr>
      <vt:lpstr>METHODOLOGY</vt:lpstr>
      <vt:lpstr>MODULE DESCRIPTION</vt:lpstr>
      <vt:lpstr>MODULE DESCRIPTION</vt:lpstr>
      <vt:lpstr>IMPLEMENTATION DETAILS</vt:lpstr>
      <vt:lpstr>SYSTEM ARCHITECTURE</vt:lpstr>
      <vt:lpstr>PROGRESS</vt:lpstr>
      <vt:lpstr>PowerPoint Presentation</vt:lpstr>
      <vt:lpstr>PowerPoint Presentation</vt:lpstr>
      <vt:lpstr>SCREENSHOTS</vt:lpstr>
      <vt:lpstr>SCREENSHOTS</vt:lpstr>
      <vt:lpstr>SCREENSHOTS</vt:lpstr>
      <vt:lpstr>SCREENSHOTS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Alen Biji</dc:creator>
  <cp:lastModifiedBy>Joel Thomas</cp:lastModifiedBy>
  <cp:revision>8</cp:revision>
  <dcterms:created xsi:type="dcterms:W3CDTF">2025-10-05T08:44:31Z</dcterms:created>
  <dcterms:modified xsi:type="dcterms:W3CDTF">2025-10-23T04:20:32Z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2025-10-05T00:00:00Z</vt:filetime>
  </property>
  <property fmtid="{D5CDD505-2E9C-101B-9397-08002B2CF9AE}" pid="5" name="Producer">
    <vt:lpwstr>Microsoft® PowerPoint® 2019</vt:lpwstr>
  </property>
</Properties>
</file>